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Polaris DC-1 — Aviapolis Data Campus, Vantaa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Period 05 — Monthly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Data date: 31 July 2026  ·  Reporting window: 01–31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ACCEE"/>
                </a:solidFill>
                <a:latin typeface="Calibri"/>
              </a:rPr>
              <a:t>Issued for PMC / ER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AACCEE"/>
                </a:solidFill>
                <a:latin typeface="Calibri"/>
              </a:rPr>
              <a:t>Sources: PDC-BOQ-001 Rev A · PDC-SCH-001/5/8 Rev0/2 · PDC-MS-001 Rev A · PDC-LT-001 Rev A · PDC-PROG-001/5/8 P05 · PDC-LAB-P05 · PDC-MIN-P05 · PDC-LTR-PMC-011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Section 1 forecast-met; 0 working days float on DH2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Section 1 forecast completion</a:t>
            </a:r>
            <a:r>
              <a:rPr sz="1200">
                <a:solidFill>
                  <a:srgbClr val="222222"/>
                </a:solidFill>
                <a:latin typeface="Calibri"/>
              </a:rPr>
              <a:t> — 2027-05-02 — met; 0 working days float on DH2 chain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Critical path</a:t>
            </a:r>
            <a:r>
              <a:rPr sz="1200">
                <a:solidFill>
                  <a:srgbClr val="222222"/>
                </a:solidFill>
                <a:latin typeface="Calibri"/>
              </a:rPr>
              <a:t> — DH1 piling → DH2 piling → DH2 pile caps → DH2 waterproofing; any further loss on GW-1200 directly on completion date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Days lost this period</a:t>
            </a:r>
            <a:r>
              <a:rPr sz="1200">
                <a:solidFill>
                  <a:srgbClr val="222222"/>
                </a:solidFill>
                <a:latin typeface="Calibri"/>
              </a:rPr>
              <a:t> — 2 cal days on DH2 pile caps; cause 22.07.2026 concrete supply failure at Rudus Vantaa (Kallio's nominated supplier)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Risk allocation</a:t>
            </a:r>
            <a:r>
              <a:rPr sz="1200">
                <a:solidFill>
                  <a:srgbClr val="222222"/>
                </a:solidFill>
                <a:latin typeface="Calibri"/>
              </a:rPr>
              <a:t> — DH2 chain slip is Kallio supply-chain risk under PDC-SUB-001 Rev0; no Kallio claim lodged; no Employer valuation reserved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EVM at month-end</a:t>
            </a:r>
            <a:r>
              <a:rPr sz="1200">
                <a:solidFill>
                  <a:srgbClr val="222222"/>
                </a:solidFill>
                <a:latin typeface="Calibri"/>
              </a:rPr>
              <a:t> — SPI 0.98 · CPI 0.86 · SV −EUR 65,681 · CV −EUR 529,413 (driven by Section A prelims cost profile)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Money position</a:t>
            </a:r>
            <a:r>
              <a:rPr sz="1200">
                <a:solidFill>
                  <a:srgbClr val="222222"/>
                </a:solidFill>
                <a:latin typeface="Calibri"/>
              </a:rPr>
              <a:t> — BAC EUR 92,400,000 · PM EAC held at BAC (no uplift warranted) · formal CPI-projection EAC EUR 107.5m presented as sanity check only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TP-005 baseline status</a:t>
            </a:r>
            <a:r>
              <a:rPr sz="1200">
                <a:solidFill>
                  <a:srgbClr val="222222"/>
                </a:solidFill>
                <a:latin typeface="Calibri"/>
              </a:rPr>
              <a:t> — Ilmatek Rev2 baseline programme NOT YET ACCEPTED by PMC; P05 position reported against an unaccepted baseline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Open PM actions</a:t>
            </a:r>
            <a:r>
              <a:rPr sz="1200">
                <a:solidFill>
                  <a:srgbClr val="222222"/>
                </a:solidFill>
                <a:latin typeface="Calibri"/>
              </a:rPr>
              <a:t> — 7 — 1 due 05.08.2026 (DH1 piling % reconciliation); 5 dependent on third parties (DNO, Vantaan Energia, ER instruction)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Headline risk</a:t>
            </a:r>
            <a:r>
              <a:rPr sz="1200">
                <a:solidFill>
                  <a:srgbClr val="222222"/>
                </a:solidFill>
                <a:latin typeface="Calibri"/>
              </a:rPr>
              <a:t> — 110 kV outage window under review (CD-05) — Employer-side; affects ST-1310 substation precast erection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TP-001 Kallio — substructure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Pile log 41/68 = 60%; DH2 chain slip = Kallio supply-chain risk (no claim lodged)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DH1 piling (GW-1200)</a:t>
            </a:r>
            <a:r>
              <a:rPr sz="1200">
                <a:solidFill>
                  <a:srgbClr val="222222"/>
                </a:solidFill>
                <a:latin typeface="Calibri"/>
              </a:rPr>
              <a:t> — 60% cum (41 of 68 design installed + concreted). ON programme. Kallio claim 64% is time-elapsed — pending A05-01 reconciliation (05.08).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DH2 pile caps (GW-1300)</a:t>
            </a:r>
            <a:r>
              <a:rPr sz="1200">
                <a:solidFill>
                  <a:srgbClr val="222222"/>
                </a:solidFill>
                <a:latin typeface="Calibri"/>
              </a:rPr>
              <a:t> — Completed 28.07 — 2 cal days late. Cause: 22.07 concrete supply failure at Rudus Vantaa, Kallio's nominated supplier (Kallio P05 N-04). Risk: Kallio (supply chain). No claim lodged in P05.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DH2 waterproofing (GW-1500)</a:t>
            </a:r>
            <a:r>
              <a:rPr sz="1200">
                <a:solidFill>
                  <a:srgbClr val="222222"/>
                </a:solidFill>
                <a:latin typeface="Calibri"/>
              </a:rPr>
              <a:t> — NOT STARTED at 31.07. Root cause: F-S link from GW-1300 — access only released 29.07 (PDC-LAB-P05). Propagated Kallio risk. Now programmed W/c 03.08.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Piling rig 2 (Junttan PM20)</a:t>
            </a:r>
            <a:r>
              <a:rPr sz="1200">
                <a:solidFill>
                  <a:srgbClr val="222222"/>
                </a:solidFill>
                <a:latin typeface="Calibri"/>
              </a:rPr>
              <a:t> — Off-hire 13.07–15.07 — hydraulic failure. Kallio plant risk. No EoT claim lodged.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NW corner (B.04)</a:t>
            </a:r>
            <a:r>
              <a:rPr sz="1200">
                <a:solidFill>
                  <a:srgbClr val="222222"/>
                </a:solidFill>
                <a:latin typeface="Calibri"/>
              </a:rPr>
              <a:t> — 1,620 m³ @ EUR 63.43, BOQ value EUR 102,762.98. PROVISIONAL — Kallio has reserved time and cost (N-05). Awaiting Employer instruction. Piling rate reduced 3.0 → 1.8 piles/day.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Labour</a:t>
            </a:r>
            <a:r>
              <a:rPr sz="1200">
                <a:solidFill>
                  <a:srgbClr val="222222"/>
                </a:solidFill>
                <a:latin typeface="Calibri"/>
              </a:rPr>
              <a:t> — At planned level (25–26 fitters+welders W30/W31). Not the issue.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Cost position</a:t>
            </a:r>
            <a:r>
              <a:rPr sz="1200">
                <a:solidFill>
                  <a:srgbClr val="222222"/>
                </a:solidFill>
                <a:latin typeface="Calibri"/>
              </a:rPr>
              <a:t> — No Employer liability reserved. Kallio risk on the 22.07 event. B.04 EUR 102,762.98 — Employer instruction pending (PMC → 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TP-005 Ilmatek — mechanical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5% on IL-1400 cooling spine; Rev2 baseline NOT YET ACCEPTED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IL-1400 cooling spine</a:t>
            </a:r>
            <a:r>
              <a:rPr sz="1200">
                <a:solidFill>
                  <a:srgbClr val="222222"/>
                </a:solidFill>
                <a:latin typeface="Calibri"/>
              </a:rPr>
              <a:t> — 5% cum (QS). Sub claim 12% offsite prefabrication DENIED under PDC-SUB-005 Rev1 Cl. 4.7 — payment on completion of work in the Permanent Works, not offsite materials.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Tender qualification Q7</a:t>
            </a:r>
            <a:r>
              <a:rPr sz="1200">
                <a:solidFill>
                  <a:srgbClr val="222222"/>
                </a:solidFill>
                <a:latin typeface="Calibri"/>
              </a:rPr>
              <a:t> — Did NOT survive into executed Rev1 subcontract. Contracts module finding.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Labour</a:t>
            </a:r>
            <a:r>
              <a:rPr sz="1200">
                <a:solidFill>
                  <a:srgbClr val="222222"/>
                </a:solidFill>
                <a:latin typeface="Calibri"/>
              </a:rPr>
              <a:t> — 5 on site W30/W31 vs 11 planned — materially below programme. Ilmatek responsibility. Watching item; Cl. 4.4 recovery schedule request will issue after this report.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Rev2 baseline programme</a:t>
            </a:r>
            <a:r>
              <a:rPr sz="1200">
                <a:solidFill>
                  <a:srgbClr val="222222"/>
                </a:solidFill>
                <a:latin typeface="Calibri"/>
              </a:rPr>
              <a:t> — NOT YET ACCEPTED by PMC. Programme Compliance review documented 8 high-severity findings (sectional milestones not flagged; IL-1550 commissioning in winter; IL-1200/IL-1260 lead times compressed).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Reported position</a:t>
            </a:r>
            <a:r>
              <a:rPr sz="1200">
                <a:solidFill>
                  <a:srgbClr val="222222"/>
                </a:solidFill>
                <a:latin typeface="Calibri"/>
              </a:rPr>
              <a:t> — Reported against an unaccepted baseline programme. Acceptance decision will be notified under separate cover. Reported TP-005 sectional completion date 2027-03-31 is provisional.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Currency adjustment</a:t>
            </a:r>
            <a:r>
              <a:rPr sz="1200">
                <a:solidFill>
                  <a:srgbClr val="222222"/>
                </a:solidFill>
                <a:latin typeface="Calibri"/>
              </a:rPr>
              <a:t> — IL-1400 offsite claim vs QS implies adjustment EUR −132,236 to be applied to IV-005 once valuation runs.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IL-1200 chillers</a:t>
            </a:r>
            <a:r>
              <a:rPr sz="1200">
                <a:solidFill>
                  <a:srgbClr val="222222"/>
                </a:solidFill>
                <a:latin typeface="Calibri"/>
              </a:rPr>
              <a:t> — Procurement — order placed per PDC-LT-001 LT-01 (need-by 2026-09-15). No on-site progress this period.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TP-008 Lehtinen — external works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Ahead on access roads; NE car park blocked by R-09 (Employer-side)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Access roads &amp; parking (I.01)</a:t>
            </a:r>
            <a:r>
              <a:rPr sz="1200">
                <a:solidFill>
                  <a:srgbClr val="222222"/>
                </a:solidFill>
                <a:latin typeface="Calibri"/>
              </a:rPr>
              <a:t> — 40% cum (sub and QS agree). Sub-base complete to main gate. AHEAD of programme — good weather.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Perimeter fencing (GW-2000 / I.02)</a:t>
            </a:r>
            <a:r>
              <a:rPr sz="1200">
                <a:solidFill>
                  <a:srgbClr val="222222"/>
                </a:solidFill>
                <a:latin typeface="Calibri"/>
              </a:rPr>
              <a:t> — Starts 17.08 per programme. Posts delivered 29.07. ON programme.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NE car park construction</a:t>
            </a:r>
            <a:r>
              <a:rPr sz="1200">
                <a:solidFill>
                  <a:srgbClr val="222222"/>
                </a:solidFill>
                <a:latin typeface="Calibri"/>
              </a:rPr>
              <a:t> — BLOCKED by temporary parking compound still in use (Risk R-09). Employer-side internal site logistics constraint, owner TL.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Owning action</a:t>
            </a:r>
            <a:r>
              <a:rPr sz="1200">
                <a:solidFill>
                  <a:srgbClr val="222222"/>
                </a:solidFill>
                <a:latin typeface="Calibri"/>
              </a:rPr>
              <a:t> — Logistics (TL) to commit a relocation date in writing before P06.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Package size</a:t>
            </a:r>
            <a:r>
              <a:rPr sz="1200">
                <a:solidFill>
                  <a:srgbClr val="222222"/>
                </a:solidFill>
                <a:latin typeface="Calibri"/>
              </a:rPr>
              <a:t> — Section I total EUR 3,696,000 (BoQ I.01–I.09). I.01 alone EUR 877,247.74. Currently 40% on I.01 supports EV c. EUR 350,899.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Fibre entry (I.06)</a:t>
            </a:r>
            <a:r>
              <a:rPr sz="1200">
                <a:solidFill>
                  <a:srgbClr val="222222"/>
                </a:solidFill>
                <a:latin typeface="Calibri"/>
              </a:rPr>
              <a:t> — EUR 298,842.64 — not yet started; on programme for Q4 2026 mobilisation.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• Stormwater (I.04)</a:t>
            </a:r>
            <a:r>
              <a:rPr sz="1200">
                <a:solidFill>
                  <a:srgbClr val="222222"/>
                </a:solidFill>
                <a:latin typeface="Calibri"/>
              </a:rPr>
              <a:t> — EUR 711,530.09 — design development ongoing; on programme.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Earned Value (month-end)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SPI 0.98 / CPI 0.86 — time on plan, cost skewed by Section A prelims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B4F73"/>
                </a:solidFill>
                <a:latin typeface="Calibri"/>
              </a:rPr>
              <a:t>EUR 3.30m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Planned value to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430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B4F73"/>
                </a:solidFill>
                <a:latin typeface="Calibri"/>
              </a:rPr>
              <a:t>EUR 3.24m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Earned value to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B4F73"/>
                </a:solidFill>
                <a:latin typeface="Calibri"/>
              </a:rPr>
              <a:t>EUR 3.77m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Actual cost to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00584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143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PM EAC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41732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2B4F73"/>
                </a:solidFill>
                <a:latin typeface="Calibri"/>
              </a:rPr>
              <a:t>EUR 92.4m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Held at BAC; no uplift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112471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0"/>
            <a:ext cx="10881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B4F73"/>
                </a:solidFill>
                <a:latin typeface="Calibri"/>
              </a:rPr>
              <a:t>EVM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SPI (EV/PV)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108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0.980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08960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Schedule performance index — 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01568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CPI (EV/AC)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40156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0.859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01568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Cost performance index — over (driven by Section A prelims profile)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94176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SV (EV−PV)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694176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−EUR 65,681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694176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Schedule variance — marginal behind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8678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CV (EV−AC)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98678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−EUR 529,413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986784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Cost variance — over budget (structural)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7939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TCPI to 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27939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0.989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279392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Cost performance required to hit BAC — feasible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72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EV this period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572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EUR 399,326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572000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P05 earned vs P04 EV estimate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64608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Formal EAC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8646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EUR 107.5m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864608"/>
            <a:ext cx="6675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CPI-projection — sanity check only; NOT PM forecast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Basis: Section A prelims straight-line; Section B (B.06 60% QS, B.07 5%); Section F (IL-1400 5% QS); Section I (I.01 40%). Source: PDC-BOQ-001 Rev A · PDC-SCH-001/5/8 Rev0/2 · PDC-LAB-P05 · PDC-PROG-001/5/8 P05.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Critical path slippage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DH2 chain — 0 working days float remaining (Kallio supply-chain risk)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194560" cy="50292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960120"/>
            <a:ext cx="1371600" cy="50292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5156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BL finish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960120"/>
            <a:ext cx="2560320" cy="50292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05156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Actual /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960120"/>
            <a:ext cx="1371600" cy="50292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05156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960120"/>
            <a:ext cx="3749039" cy="50292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05156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Cause / risk allocation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630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544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GW-1200 DH1 piling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4630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55448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2026-08-25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4630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5544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41/68 (60% QS)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4630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0 cal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1463040"/>
            <a:ext cx="374903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55448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On programme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65960"/>
            <a:ext cx="219456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0574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GW-1300 DH2 pile caps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1965960"/>
            <a:ext cx="137160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0574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2026-07-26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1965960"/>
            <a:ext cx="256032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Completed 28.07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1965960"/>
            <a:ext cx="137160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0574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−2 cal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1965960"/>
            <a:ext cx="3749039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205740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risk — 22.07 supplier failure (Rudus Vantaa)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68880"/>
            <a:ext cx="219456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56032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GW-1500 DH2 waterproofing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468880"/>
            <a:ext cx="137160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25603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2026-08-12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468880"/>
            <a:ext cx="256032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256032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Not started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2468880"/>
            <a:ext cx="1371600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5603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−2 cal days (propagated)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2468880"/>
            <a:ext cx="3749039" cy="50292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256032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risk — F-S link from GW-1300; access released 29.07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971800"/>
            <a:ext cx="2194560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0632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MS-06 Section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971800"/>
            <a:ext cx="1371600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306324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2027-05-02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2971800"/>
            <a:ext cx="2560320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30632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Forecast-met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971800"/>
            <a:ext cx="1371600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06324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2971800"/>
            <a:ext cx="3749039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306324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0 working days float on DH2 chain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474720"/>
            <a:ext cx="2194560" cy="50292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56616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ST-1310 substation precast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3474720"/>
            <a:ext cx="1371600" cy="50292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356616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2026-11-25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474720"/>
            <a:ext cx="2560320" cy="50292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0" y="356616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At risk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3474720"/>
            <a:ext cx="1371600" cy="50292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356616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Pending 110 kV review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3474720"/>
            <a:ext cx="3749039" cy="50292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3566160"/>
            <a:ext cx="356615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Employer risk — DNO written permission required (CD-05)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solidFill>
            <a:srgbClr val="FCE8E6"/>
          </a:solidFill>
          <a:ln w="12700">
            <a:solidFill>
              <a:srgbClr val="2B4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6634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4F73"/>
                </a:solidFill>
                <a:latin typeface="Calibri"/>
              </a:rPr>
              <a:t>Section 1 is intact only because the 2 days of float on the DH2 chain were exactly what the Kallio-risk 22.07 concrete supply failure cost. The next slip — Kallio or Employer — must trigger a FIDIC Cl. 8.3 notification.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Money-proportionate variances &amp; risk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No Employer liability reserved on the DH2 chain at month-end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4937760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960120"/>
            <a:ext cx="1828800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0515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960120"/>
            <a:ext cx="4480560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0515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Status / risk allocation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087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B.04 NW corner made ground (provisional)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4173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102,762.98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417320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087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Employer instruction pending (PMC → ER); Kallio reservation N-05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74520"/>
            <a:ext cx="493776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659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Kallio 22.07 Rudus Vantaa concrete supply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874520"/>
            <a:ext cx="182880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9659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874520"/>
            <a:ext cx="448056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9659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risk — no claim lodged in P05; no Employer valuation reserved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3172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231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IL-1400 offsite prefab claim vs QS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3317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4231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−132,236 (adjustment)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331720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4231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To be applied to IV-005 once Ilmatek valuation runs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493776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Rig 2 (Junttan PM20) 13–15.07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2788920"/>
            <a:ext cx="182880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28803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Sub cost (TBC)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788920"/>
            <a:ext cx="4480560" cy="45720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28803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risk — mechanical (hydraulic failure); no EoT claim lodged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20"/>
            <a:ext cx="49377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375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110 kV outage window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3246120"/>
            <a:ext cx="182880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33375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246120"/>
            <a:ext cx="44805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3375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Employer risk — PMC / Design; ER letter 30.07.2026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03320"/>
            <a:ext cx="49377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7947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Sections at risk if 110 kV slips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3703320"/>
            <a:ext cx="182880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37947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ST-1310 + Section 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703320"/>
            <a:ext cx="44805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7947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Affects TP-002 precast and TP-006 commissioning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160520"/>
            <a:ext cx="49377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2519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R-09 TMP compound blocks NE car park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160520"/>
            <a:ext cx="182880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25196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4160520"/>
            <a:ext cx="4480560" cy="457200"/>
          </a:xfrm>
          <a:prstGeom prst="rect">
            <a:avLst/>
          </a:prstGeom>
          <a:solidFill>
            <a:srgbClr val="FCE8E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42519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Employer / TL risk — internal site logistics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Risk allocation: the DH2 chain slip this period is Kallio supply-chain risk under PDC-SUB-001 Rev0 — Kallio's nominated concrete supplier Rudus Vantaa failed on 22.07; no Kallio claim has been lodged in P05; no Employer valuation is reserved against it. The EUR 132,236 IL-1400 adjustment is a contractually clean position; tender Q7 did not survive Rev1. The EUR 102,762.98 B.04 reservation is Employer-side and is held for written instruction. The 110 kV outage window is the principal Employer-side risk and is under ER review (CD-05).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4-week look-ahead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W/c 03.08 → W/c 24.08.2026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371600" cy="82296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960120"/>
            <a:ext cx="7772400" cy="82296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05156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960120"/>
            <a:ext cx="2103120" cy="82296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05156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7452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W32 (03.08)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783080"/>
            <a:ext cx="7772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187452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DH2 waterproofing start · DH1 piling continue · access roads hardstanding handover · UPS modules procurement (LT-04 order-by 31.07)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783080"/>
            <a:ext cx="2103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87452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/ Lehtinen / PMC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06040"/>
            <a:ext cx="137160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W33 (10.08)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606040"/>
            <a:ext cx="777240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69748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Halls 3-4 pile caps start · A05-01 reconciliation close-out · NW corner written-instruction request to 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606040"/>
            <a:ext cx="210312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69748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Kallio / PMC → 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2900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2044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W34 (17.08)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429000"/>
            <a:ext cx="7772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52044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Perimeter fencing start · Ilmatek Cl. 4.4 letter issued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429000"/>
            <a:ext cx="2103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352044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Lehtinen / PMC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137160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1188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W35 (24.08)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251960"/>
            <a:ext cx="777240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4343400"/>
            <a:ext cx="75895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TMP compound relocation (R-09) · 110 kV outage window confirmation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4251960"/>
            <a:ext cx="2103120" cy="82296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34340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TL / Logistics / PMC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Open checks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731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Period 05 · 31.07.2026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7 actions — 1 firm due 05.08.2026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914400" cy="64008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960120"/>
            <a:ext cx="5943600" cy="64008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05156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960120"/>
            <a:ext cx="2286000" cy="64008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051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960120"/>
            <a:ext cx="2103120" cy="640080"/>
          </a:xfrm>
          <a:prstGeom prst="rect">
            <a:avLst/>
          </a:prstGeom>
          <a:solidFill>
            <a:srgbClr val="2B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05156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914400" cy="64008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916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600200"/>
            <a:ext cx="5943600" cy="64008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16916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Reconcile DH1 piling % with QS site measure (pile log 41/68 = 60%)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00200"/>
            <a:ext cx="2286000" cy="64008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9164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PK (Kallio)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600200"/>
            <a:ext cx="2103120" cy="640080"/>
          </a:xfrm>
          <a:prstGeom prst="rect">
            <a:avLst/>
          </a:prstGeom>
          <a:solidFill>
            <a:srgbClr val="FFF4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69164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2026-08-05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40280"/>
            <a:ext cx="9144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317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240280"/>
            <a:ext cx="59436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233172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DNO exclusion-zone confirmation for ST-1310 precast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240280"/>
            <a:ext cx="22860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33172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PMC /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240280"/>
            <a:ext cx="210312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3317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80360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97180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880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297180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B.04 NW corner remeasure, time consequence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8803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97180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PMC → 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88036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29718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20440"/>
            <a:ext cx="9144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1188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520440"/>
            <a:ext cx="59436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361188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R-09 TMP compound relocation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520440"/>
            <a:ext cx="22860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TL / Logistics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520440"/>
            <a:ext cx="210312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6118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60520"/>
            <a:ext cx="9144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5196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4160520"/>
            <a:ext cx="59436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3040" y="425196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Ilmatek recovery schedule (PDC-SUB-005 Rev1 Cl. 4.4)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4160520"/>
            <a:ext cx="22860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42519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PMC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4160520"/>
            <a:ext cx="210312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25196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After report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800600"/>
            <a:ext cx="9144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8920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4800600"/>
            <a:ext cx="59436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63040" y="48920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Ilmatek Rev2 baseline programme acceptance decision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800600"/>
            <a:ext cx="228600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489204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PMC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800600"/>
            <a:ext cx="2103120" cy="640080"/>
          </a:xfrm>
          <a:prstGeom prst="rect">
            <a:avLst/>
          </a:prstGeom>
          <a:solidFill>
            <a:srgbClr val="F6F8F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489204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440680"/>
            <a:ext cx="914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5321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Calibri"/>
              </a:rPr>
              <a:t>A05-07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4406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63040" y="553212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110 kV outage window confirmation with Vantaan Energia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54406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553212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PMC / Design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0" y="544068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92640" y="5532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TBC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alibri"/>
              </a:rPr>
              <a:t>Polaris DC-1 · Aviapolis Data Campus, Vantaa  ·  Period 05 monthly progress — PMC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