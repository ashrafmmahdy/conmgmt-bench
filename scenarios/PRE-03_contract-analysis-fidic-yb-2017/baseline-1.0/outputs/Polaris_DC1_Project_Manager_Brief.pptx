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Polaris DC-1 — What the Project Manager Needs to Know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FIDIC Yellow Book 2017 with Particular Conditions Rev A — Tender Issue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— Contract Sum €92.4M · 22 months · 4 Sections · Vantaa, Finland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---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Slide 1: The Big Picture for Site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**What this contract does to you on the ground:**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---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You carry **all ground risk** — every cubic metre of unexpected rock, every patch of bad ground is ours to pay for and programme around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You have **14 days** from the moment you become aware of a problem to submit a fully detailed claim — miss it and the claim is dead forever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You are guaranteeing **absolute performance** on PUE ≤1.25, WUE ≤0.25, availability 99.982%, and 4MW waste heat at ≥70°C — no excuses, no "reasonable skill and care"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The employer holds **10% of every invoice** (€9.24M total) and releases nothing until the Performance Certificate — 36 months after you finish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Design documents you didn't write (Employer's Requirements + Tenant Technical Annex) — if they contain errors, you pay to fix them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Slide 2: The Site — What the Ground Tells Us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**Geotechnical Report (PDC_SS_001, Oct 2025 — 14 boreholes):**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---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Slide 2: The Site — What the Ground Tells Us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What we know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What it means for you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Granitic gneiss bedrock at 4.0–9.2m (shallowest in east)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**Blasting required in eastern third** of site — mechanical excavation not viable. Pre-blast condition surveys needed for residential + logistics neighbour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Perched groundwater at 2.6–3.9m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**Sump pumping / well-pointing** for ALL excavations below ~2.5m. Higher in spring snowmelt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Three residual risks the investigation couldn't close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See next slide — these are yours under SP-5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110kV overhead line crosses north boundary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Crane/plant exclusion zone; network operator permission required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Residential boundary NE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45 dB(A) night-time noise limit — restricts blasting, generator testing, night work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Aviation height limit (3km from Helsinki-Vantaa)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Obstacle lighting likely required on tall cranes and permanent plant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Slide 3: The Three Ground Risks You Own (SP-5)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SP-5 deletes the entire "Unforeseeable Physical Conditions" clause. These three unresolved items from the Employer's own geotech report are now **ours to carry, 100%**: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**What to do now:** Price these as known risks in the tender. Include a ground-risk contingency in your preliminaries. If we win, commission the follow-up investigation before excavation starts.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---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Slide 3: The Three Ground Risks You Own (SP-5)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Risk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Location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Our Exposure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**Made ground (~900m², extent unknown)**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NW corner (BH-01: 1.7m loose fill, origin unrecorded)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Not suitable for founding — removal and replacement or piled slab. Possible archaeological watching brief (Finnish Heritage Agency). Programme risk: enabling works delay while extent is investigated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**Boulder-rich horizon (rock not proven)**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Between BH-07/BH-08/BH-09 (central-east)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Two boreholes hit refusal on boulders at 6.4–7.8m without reaching rockhead. Boulders can deflect piles, increase blasting, make excavation unpredictable. The report recommends further investigation before finalising piling methodology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**Elevated sulphide (waste classification pending)**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Vicinity of BH-12 (south-central, 3.2–4.6m)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Dark grey/black sulphide-stained till with sulphurous odour. May require classified waste disposal, segregated stockpiling, and different handling. Lab results not available at report issue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Slide 4: The Programme — What Drives Your Critical Path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**Four sections, staggered completions:**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**Key programme constraints:**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---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**Blasting: 08:00–18:00 Mon-Fri only** (SP-18). Pre-blast surveys + notification to authority + neighbours required before first blast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**Generator testing: 09:00–16:00 Mon-Fri only** (SP-18)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**Deliveries: 06:00–22:00 Mon-Fri only** — single shared access from Setkunnantie through logistics neighbour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**Night noise: 45 dB(A) at residential boundary** — no blasting, no generator testing, restricted plant after 22:00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**Commissioning: L1 to L5** must be tracked in monthly reports (SP-21)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**Taking-Over needs BOTH** occupancy inspection (käyttöönottotarkastus) AND Tenant technical acceptance (SP-22)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Slide 4: The Programme — What Drives Your Critical Path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Section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Time for Completion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LD exposure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Section 1 (likely Phase 1 data halls)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14 months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Per Part A — LD rate per section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Section 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16 months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Per Part 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Section 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19 months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Per Part 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Section 4 (Final Completion)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22 months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Per Part A ÷ LD cap = 20% of Contract Sum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Slide 5: Your Deadlines — The Ones That Bite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---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Slide 5: Your Deadlines — The Ones That Bite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What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Deadline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If You Miss It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**Claims notification** (SP-15)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**14 days** from awareness of event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**Claim is dead — absolutely barred.** No discretion, no waiver, no extension by Engineer or arbitrator. Full particulars required within the 14 days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**Subcontractor payment** (SP-4)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60 days from sub's invoice **BUT** only after Employer pays us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You cannot pay subs until we're paid. Finnish law may override this, but subcontractors will push back — manage their expectations day one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**Variation work** (SP-9)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**Immediately** on instruction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If you wait for pricing to be agreed before starting — it's a "substantial failure" and grounds for termination under 15.2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**Progress reports** (SP-21)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Monthly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Must include L1–L5 commissioning status per section + every long-lead equipment order status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**IPC submission** (Part A)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Monthly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Engineer has 42 days to review. Silence = NOT deemed certified (SP-12 deletes deemed certification). If the Engineer sits on it, you sit on it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**Employer payment** (Part A)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75 days from IPC to cash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42 days Engineer review + 33 days Employer payment. Budget cashflow accordingly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Slide 6: The Design Guarantees You're On The Hook For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**SP-6 — Absolute fitness-for-purpose warranty (not "reasonable skill and care"):**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**The problem:** You are guaranteeing performance of systems designed to the Employer's Requirements and Tenant Technical Annex — but you have no right to relief if those documents contain errors (SP-2 deleted 1.9). If the Tenant's load assumptions or cooling specs don't work in practice, you still have to make the numbers.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**What to do:** Have your MEP lead do a sanity-check on the ER and Technical Annex now, before we submit. Flag anything that looks impossible or contradictory.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---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Slide 6: The Design Guarantees You're On The Hook For</a:t>
            </a:r>
            <a:endParaRPr lang="en-US" sz="2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Target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What It Means On Site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**PUE**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≤1.25 annualised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Every watt of overhead (cooling, lighting, losses) is measured against IT load. Affects every MEP design decision you make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**WUE**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≤0.25 L/kWh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Water consumption for cooling. Influences cooling system selection and makes commissioning tuning critical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**Availability**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99.982% (≤94 minutes downtime/year)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This is Tier III-equivalent. Redundant everything. Every single-point-of-failure kills you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**Waste heat**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≥4 MWth at ≥70°C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You are delivering a district heating supply. The District Heating Agreement (PDC_DH_001) is in the tender pack — read it. Heat exchangers, flow temperatures, and commissioning must prove delivery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Slide 7: What You Must Put In Place Before We Start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---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Slide 7: What You Must Put In Place Before We Start</a:t>
            </a:r>
            <a:endParaRPr lang="en-US" sz="2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Action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Owner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Deadline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**Performance Security** — 10% on-demand bond (Part A)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You / Commercial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Before start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**PI Insurance** — €10M each claim, 6-year tail (Part A)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You / Commercial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Before start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**All-Risks Insurance** — Works (Part A)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You / Commercial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Before start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**Blasting notification** — to Vantaa authority + neighbours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You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Before first blast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**Pre-blast condition surveys** — residential + logistics neighbour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You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Before first blast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**110kV line — network operator permission** for crane/plant near line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You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Before any tall plant near north boundary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**Background check regime** — for all personnel entering data halls after first energisation (SP-19)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You / HR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Before commissioning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**Site security measures** — per ER, including access logging (SP-19)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You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From Commencement Date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**Boulder zone investigation** — seismic refraction or additional boreholes BH-07 to BH-09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You / Geotech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Before piling/excavation in that zone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**Made ground investigation** — prove extent of NW corner fill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You / Geotech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Before foundations in that area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**Sulphide testing** — confirmatory on BH-12 material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You / Geotech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Before bulk excavation reaches 3.2m near BH-12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Slide 8: Subcontractor Management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**SP-4 changes how you deal with subs:**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**The reality:** Finnish subcontractors will not accept pay-when-paid on 60-day terms. In practice, this clause creates tension — your subs will demand payment, the Employer may not have paid us yet, and the contract offers no protection. You need to: 1. Be upfront with subs about payment timing 2. Budget for bridging finance to keep key subs working while Employer payments are pending 3. Vet subs for financial robustness — they're effectively financing our contract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---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All subcontracts must provide for **60-day payment** from sub's invoice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No payment to subs **unless and until** the Employer has paid us for that work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Finnish Tilaajavastuulaki (1233/2006) compliance must be evidenced every 3 months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Slide 9: Disputes — There Is No Middle Ground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---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**No Dispute Board** (SP-16 deletes DAAB entirely)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Every unresolved issue goes straight to **LCIA arbitration in London** (SP-17)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This means: expensive, slow, outside Finland, in English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**Practical effect:** The Engineer and Employer know it costs us €150-250k+ just to challenge a decision. That's a bargaining lever in their favour. Document everything meticulously — if it ever reaches London, your site records are the only defence.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Slide 10: Your Personal Risk Register — Top 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---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*Based on PDC_PC_001 Rev A Particular Conditions + PDC_SS_001 Geotechnical Report (Oct 2025). Ground-risk statements are grounded in actual borehole data, not assumptions.*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Slide 10: Your Personal Risk Register — Top 5</a:t>
            </a:r>
            <a:endParaRPr lang="en-US" sz="2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Rank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Risk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Your Mitigation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**14-day claims bar** — missing a notification kills a legitimate claim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Set a weekly "claims review" meeting. Every superintendent must report anything that could become a claim. Log everything.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**Ground conditions — boulders, made ground, sulphide** — all ours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Budget for it. Investigate early. Don't start bulk excavation in unknown zones.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**Commissioning to L5 + Tenant acceptance** — takes longer than you think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Build 4-6 weeks of commissioning float into your Section 1 programme. L1-L5 is a multi-stage process with Tenant sign-off — it's a collaboration, not a checklist.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**Blasting constraints** — limited hours, residential neighbour, vibration limits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Engage a licensed Finnish blasting contractor who knows SFS 4812 and has worked near residential. Pre-blast surveys are non-negotiable.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**Subcontractor cashflow** — 75-day Employer payment + 60-day sub terms = subs carrying 4-5 months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This will cause attrition. Identify which subs are essential (MEP, BMS, cooling) and ensure they have the balance sheet to carry it — or arrange bridge financing.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2026-07-30T20:55:36Z</dcterms:created>
  <dcterms:modified xsi:type="dcterms:W3CDTF">2026-07-30T20:55:36Z</dcterms:modified>
</cp:coreProperties>
</file>