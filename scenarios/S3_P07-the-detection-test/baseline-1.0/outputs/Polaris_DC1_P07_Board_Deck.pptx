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Polaris DC-1 — Period 07 Board Update (P07 cycle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Data date 30 September 2026 · Operative PC: PDC-PC-001 RevC (FINAL, 24.02.2026)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E78"/>
                </a:solidFill>
              </a:rPr>
              <a:t>Full BAC basis (EUR 92.4M)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39C12"/>
                </a:solidFill>
              </a:rPr>
              <a:t>CPI 0.902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22222"/>
                </a:solidFill>
              </a:rPr>
              <a:t>EAC EUR 102.4M vs BAC EUR 92.4M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E78"/>
                </a:solidFill>
              </a:rPr>
              <a:t>Activity subset basis (EUR 8.34M)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C0392B"/>
                </a:solidFill>
              </a:rPr>
              <a:t>CPI 0.697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22222"/>
                </a:solidFill>
              </a:rPr>
              <a:t>EAC EUR 11.97M vs BAC EUR 8.34M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22222"/>
                </a:solidFill>
              </a:rPr>
              <a:t>Both bases flag the Kallio cost over-run. Activity subset shows the concentration; full BAC smooths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5623560" cy="2286000"/>
          </a:xfrm>
          <a:prstGeom prst="rect">
            <a:avLst/>
          </a:prstGeom>
          <a:solidFill>
            <a:srgbClr val="F2F2F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What is going well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• DH1 piling complete on programme 11.09
• DH2 piling complete on programme 15.09
• Section 1 date unchanged: 02.05.2027
• R-09 TMP compound closed 14.09 (no claim)
• SPI 1.020 (full BAC) / 0.998 (activity subset)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4023360"/>
            <a:ext cx="5486400" cy="2286000"/>
          </a:xfrm>
          <a:prstGeom prst="rect">
            <a:avLst/>
          </a:prstGeom>
          <a:solidFill>
            <a:srgbClr val="F2F2F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What the board needs to know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• Kallio cost overrun concentrated
• 110 kV letter: 14-day window closed 11.09 — 19 days ago; hold-harmless drafted
• PDC-PC-001 RevC SP-7 apportionment regime (not bar); Cost bar retained
• 110 kV slip event: 28-day notice clock expired 25.09.2026; 20.2.2 reinstated
• DH2 waterproofing: KMO-QC-0219 UNWITNESSED — cert not worth the paper
• IL-1400: derived 67 wd to Section 1 (NOT a quoted baseline float)
• Critical-path float 0 — 110 kV now on the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EVM KPI — Period 07 — BOTH 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Cumulative to 30.09.2026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</a:rPr>
              <a:t>Activity subset basis (working)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SPI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E7D32"/>
                </a:solidFill>
              </a:rPr>
              <a:t>0.998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280160"/>
            <a:ext cx="137160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46303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CPI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82880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0392B"/>
                </a:solidFill>
              </a:rPr>
              <a:t>0.697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280160"/>
            <a:ext cx="137160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46303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EAC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82880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0392B"/>
                </a:solidFill>
              </a:rPr>
              <a:t>€11.97M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280160"/>
            <a:ext cx="137160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46303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VAC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82880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0392B"/>
                </a:solidFill>
              </a:rPr>
              <a:t>€−3.63M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914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</a:rPr>
              <a:t>Full BAC basis (comparable to P05/P06)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280160"/>
            <a:ext cx="137160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46303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SPI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82880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E7D32"/>
                </a:solidFill>
              </a:rPr>
              <a:t>1.020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1280160"/>
            <a:ext cx="137160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146303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CPI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182880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39C12"/>
                </a:solidFill>
              </a:rPr>
              <a:t>0.902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1280160"/>
            <a:ext cx="137160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59" y="146303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EAC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182880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0392B"/>
                </a:solidFill>
              </a:rPr>
              <a:t>€102.4M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0" y="1280160"/>
            <a:ext cx="137160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0" y="146303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88"/>
                </a:solidFill>
              </a:rPr>
              <a:t>VAC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182880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0392B"/>
                </a:solidFill>
              </a:rPr>
              <a:t>€−10M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65760" y="310896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771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Activity subset (BAC 8.34M)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Full BAC (BAC 92.4M)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/>
                        <a:t>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€8,342,800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€92,400,000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Activity Progress / P05-P06 workbooks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/>
                        <a:t>PV to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€5,418,050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€6,861,932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Activity Progress / P06 + 1 mths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/>
                        <a:t>EV to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€5,406,850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€7,000,000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Activity Progress / P06 + 1 mths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/>
                        <a:t>AC to date (cum)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€7,757,800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€7,757,800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PDC-CVR-P07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/>
                        <a:t>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€−11,200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€+138,068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Computed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/>
                        <a:t>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€−2,350,950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€−757,800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Computed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/>
                        <a:t>TCPI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5.019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1.011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Computed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Both bases use the same AC (EUR 7,757,800). Activity subset shows Kallio cost concentration; full BAC smooths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S-curve — Cumulative PV / EV / AC (from project commencement)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Reported data points P05/P06/P07 · BAC baseline projection to Section 1 + project close</a:t>
            </a:r>
          </a:p>
        </p:txBody>
      </p:sp>
      <p:pic>
        <p:nvPicPr>
          <p:cNvPr id="5" name="Picture 4" descr="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67206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BAC EUR 92,400,000. P07 EV EUR 7.0M is ahead of P07 PV EUR 6.86M (SPI 1.020). P07 AC EUR 7.76M is above EV (CPI 0.902). The Kallio cost over-run is concentrated in the active earthworks / substructure packages. Earlier months (Mar–Jun 2026) carry no reported data — the P06 S-curve sheet contains 'ESTIMATED earlier-period ramp' figures which have been excluded per the no-back-fill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SPI and CPI by period (full BAC EUR 92.4M basis)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Reported values per period workbook — no back-fill</a:t>
            </a:r>
          </a:p>
        </p:txBody>
      </p:sp>
      <p:pic>
        <p:nvPicPr>
          <p:cNvPr id="5" name="Picture 4" descr="spi_cpi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62725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P05: SPI 0.98 / CPI 0.859. P06: SPI 1.03 / CPI 0.94 (INDICATIVE per P06 workbook). P07: SPI 1.020 / CPI 0.902. CPI has structurally lagged BAC throughout. Activity subset basis shows CPI 0.697 (Kallio concentration).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BAC vs EAC vs VAC by period (full BAC EUR 92.4M basis)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Reported EAC values per period workbook — no back-fill</a:t>
            </a:r>
          </a:p>
        </p:txBody>
      </p:sp>
      <p:pic>
        <p:nvPicPr>
          <p:cNvPr id="5" name="Picture 4" descr="bac_eac_vac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62563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BAC stable at EUR 92.4M throughout. EAC walked EUR 107,514,938 (P05) → EUR 97,900,000 (P06 indicative) → EUR 102,402,960 (P07). The EAC deterioration P06 → P07 reflects the P07 step-up in cost variance. VAC EUR −15.1M (P05) → EUR −5.5M (P06 indicative) → EUR −10.0M (P07).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SV and CV by period — reported values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P05 reported · P06 and P07 not reported in their workbooks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2222"/>
                </a:solidFill>
              </a:rPr>
              <a:t>Per the no-back-fill rule: SV and CV were reported only in the P05 workbook (SV EUR -65,681, CV EUR -529,413). P06 and P07 workbooks did not include variance metrics. The cells are empty rather than back-filled.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5448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SV (EUR)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CV (EUR)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/>
                        <a:t>P05 (31.07.2026)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−65,681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−529,413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P05 EVM Summary — reported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/>
                        <a:t>P06 (31.08.2026)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Not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Not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P06 EVM_Disclosure does not include variance metrics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/>
                        <a:t>P07 (30.09.2026)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Not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Not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P07 workbook does not include variance metrics — derived in this workbook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/>
                        <a:t>Derived: P07 (full BAC)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+138,068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−757,800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Computed from EV EUR 7.0M − PV EUR 6.86M, EV EUR 7.0M − AC EUR 7.76M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1148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22222"/>
                </a:solidFill>
              </a:rPr>
              <a:t>Recommendation: P08 should report SV and CV explicitly. The P07 workbook carries the derived values on the EVM Summary sheet (basis B) — but a reported SV/CV is the standard. Note also that ETC (Estimate to Complete) was not reported in P05/P06/P07 workbooks; this is the third standard EVM metric missing from the project reporting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Critical path — driving chain has shifted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Float 2 → 1 → 0 working days across P05–P06–P07</a:t>
            </a:r>
          </a:p>
        </p:txBody>
      </p:sp>
      <p:pic>
        <p:nvPicPr>
          <p:cNvPr id="5" name="Picture 4" descr="critical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565727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57200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86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Driving chain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Float (wd)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Section 1 date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 b="1"/>
                        <a:t>P05 (Jul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DH1 piling → DH1 pile caps → DH2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02.05.2027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 b="1"/>
                        <a:t>P06 (Aug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DH2 piling → DH1 pile caps → DH2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02.05.2027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 b="1"/>
                        <a:t>P07 (Sep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DH2 slab → DH1 pile caps → 110 kV commissioning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02.05.2027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The 110 kV leg is now on the chain. IL-1400 has derived 67 wd to Section 1 (see slide 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IL-1400 — baseline figures (PDC-SCH-005 Rev2) and derived float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The 67 wd figure is a derivation, NOT a quoted baseline float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E7D32"/>
                </a:solidFill>
              </a:rPr>
              <a:t>67 working days (DERIVED)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22222"/>
                </a:solidFill>
              </a:rPr>
              <a:t>IL-1400 to Section 1 date (02.05.2027) — DERIVATION from baseline dates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834640"/>
          <a:ext cx="11247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971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00" b="1"/>
                        <a:t>Baseline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70 working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PDC-SCH-005 Rev2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00" b="1"/>
                        <a:t>Baseline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2026-06-15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PDC-SCH-005 Rev2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00" b="1"/>
                        <a:t>Baseline finish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2026-10-12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PDC-SCH-005 Rev2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00" b="1"/>
                        <a:t>Predecessor (IL-1311)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COMPLETE (diary 21.09.2026)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PDC-SCH-005 Rev2 + site diary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00" b="1"/>
                        <a:t>Float column on Rev2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NOT REPORTED (Rev2 has no float column)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PDC-SCH-005 Rev2 — Dur / Start / Finish / Predecessor / Notes only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00" b="1"/>
                        <a:t>Successor on critical path (IL-1510)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Chiller installation — 20 wd, 2027-01-29 → 2027-02-25 (predecessors IL-1210 + IL-1400)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PDC-SCH-005 Rev2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00" b="1"/>
                        <a:t>DERIVED — IL-1400 finish to IL-1510 finish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predecessor link per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PDC-SCH-005 Rev2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00" b="1"/>
                        <a:t>DERIVED — IL-1510 finish to Section 1 (2027-05-02)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66 cal days = 47 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Calendar arithmetic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00" b="1"/>
                        <a:t>DERIVED — commissioning/access/finishing 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20 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Main contract Sections L+M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00" b="1"/>
                        <a:t>DERIVED — IL-1400 float to Section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AT LEAST 67 WD (DERIVATION, NOT QUOTED)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Computed; baseline has no float column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00" b="1"/>
                        <a:t>Position on critical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NOT on Section 1 critical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PDC-MIN-P07 §4 (TL)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424160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Cost by package — Kallio is the cost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Cumulative AC to 30.09.2026 (per PDC-CVR-P07)</a:t>
            </a:r>
          </a:p>
        </p:txBody>
      </p:sp>
      <p:pic>
        <p:nvPicPr>
          <p:cNvPr id="5" name="Picture 4" descr="cost_by_pac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68118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394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</a:rPr>
              <a:t>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760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TP-001 Kallio accounts for €3.95M of the €7.76M cumulative AC (51%). C-1100 (Earthworks + piling) is the principal driver at €2.78M, with C-1200 (Substructure) growing fast at €1.02M. A07-07 (cost recovery mechanism review) is the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Source-conflict log — the agreements and disagreements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CORRECTED P07 cycle 5 — operative PC PDC-PC-001 RevC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Sub-return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Site / QS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Governing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/>
                        <a:t>IL-1400 cooling spine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Ilmatek 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QS 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QS 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Pay at 46%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/>
                        <a:t>DH2 waterproofing (C-1180)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Kallio 100% (KMO-QC-0219)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QS 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QS 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NCR; A07-01 by 07.10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/>
                        <a:t>KMO-QC-0219 cert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Kallio 100% 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UNWITNESSED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Not worth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NCR; rely on QS 90%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/>
                        <a:t>ILM-NOT-003 EoT (22 WD)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Ilmatek 22 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No entitlement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Deny under Cl. 1.3 + 4.1 + 4.2 (RevC SP-7 apportionment)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A07-04 by 13.10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/>
                        <a:t>Kallio PDC-SCH-001 Rev1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Accept as programme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12-item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Do not accept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A07-03 (closed in report)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/>
                        <a:t>110 kV revised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ER 24.04.2027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No response issued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Hold-harmless + RevC SP-15 28-day notice + 20.2.2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A07-05 by 06.10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/>
                        <a:t>C-1140 (NW zone)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Kallio €214,600 [CORRECTED from €178,400]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Incurred €152,800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Reconcile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A07-02 by 14.10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303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8"/>
                </a:solidFill>
              </a:rPr>
              <a:t>Four live tensions this period. Three are defensible; the fourth (110 kV) is material and the Contractor owns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760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• DH2 waterproofing: KMO-QC-0219 UNWITNESSED — cert not worth the paper; pay 90% per QS.
• ILM-NOT-003: reasoned deny under PDC-SUB-005 Rev1 Cl. 1.3 / 4.1 / 4.2; PDC-PC-001 RevC SP-7 apportionment regime; derived 67 wd to Section 1.
• Kallio PDC-SCH-001 Rev1: 12-item field-by-field (4 REJECT / 4 ACCEPT / 4 NOTE) — do not accept.
• 110 kV: RevC SP-15 28-day notice + 20.2.2 reinstated; SP-7 apportionment regime.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Open actions — what is owed to whom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P07 cycle 5 — A07-03 closed; operative PC corrected to RevC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81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Due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 b="1"/>
                        <a:t>A07-01 Complete bay W4 DH2 waterproofing upstands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PK / Kallio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07.10.2026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New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 b="1"/>
                        <a:t>A07-02 C-1140 reconciliation (Kallio €214,600 vs incurred €152,800)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PK / Kallio + 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14.10.2026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New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 b="1"/>
                        <a:t>A07-03 Kallio PDC-SCH-001 Rev1 review (field-by-field)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13.10.2026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Closed in P07 cycle 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 b="1"/>
                        <a:t>A07-04 Respond to ILM-NOT-003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TL /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13.10.2026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New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 b="1"/>
                        <a:t>A07-05 Issue hold-harmless response to PDC-LTR-PMC-014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06.10.2026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New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 b="1"/>
                        <a:t>A07-06 EI-005 quotation (PDC-PC-001 RevC SP-9 / Cl. 13.3.1)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JV / PMC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20.10.2026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New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 b="1"/>
                        <a:t>A07-07 Cost recovery mechanism review (BAC vs CPI)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Commercial / PMC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20.10.2026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New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 b="1"/>
                        <a:t>A07-08 P08 to report SV / CV / ETC explicitly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PMC (planning)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13.10.2026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New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 b="1"/>
                        <a:t>A07-09 Confirm operative PC for P08 onwards (RevC)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PD / PMC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13.10.2026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New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 b="1"/>
                        <a:t>A06-05 EI-004 L2 quotation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JV / PMC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15.09.2026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Open (carry)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 b="1"/>
                        <a:t>A05-05 Ilmatek recovery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Ilmatek /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31.08.2026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Open (carry)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760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Critical this week: A07-05 (hold-harmless letter) — overdue, goes first. Next: A07-04 (response to ILM-NOT-003) by 13.10. A07-07 (cost recovery) is material to the board's 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Asks of the board — Period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What needs decision this period (P07 cycle 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4864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Authorise the immediate issue of the hold-harmless letter (PDC-LTR-001-021)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14-day window closed 11.09. Letter drafted on RevC terms. 28-day notice clock for 110 kV slip expired 25.09.2026; 20.2.2 reinstated.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64792"/>
            <a:ext cx="54864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64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Authorise A07-07 — cost recovery mechanism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084831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Activity subset CPI 0.697 / EAC EUR 11.97M. Full BAC CPI 0.902 / EAC EUR 102.4M. C-1100 and C-1200 are Kallio.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78024"/>
            <a:ext cx="54864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237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47802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Confirm the DH2 waterproofing position (pay 90%, complete W4 upstands)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9806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NCR PDC-NCR-001 drafted. KMO-QC-0219 UNWITNESSED — cert not worth the paper.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91256"/>
            <a:ext cx="54864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3697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1912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Approve the response to ILM-NOT-003 (reasoned deny under Cl. 1.3 / 4.1 / 4.2)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51129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PDC-SUB-005 Rev1. PDC-PC-001 RevC SP-7 apportionment regime; Cost bar retained. Derived 67 wd to Section 1 — baseline has no float column. Deny on cost and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04487"/>
            <a:ext cx="54864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50207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04487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Back the field-by-field review of Kallio PDC-SCH-001 Rev1 (do not accept)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224527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12-item review: 4 REJECT, 4 ACCEPT, 4 NOTE. Principal REJECT: waterproofing + Act 63 MEP spine not Kallio's scope.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17720"/>
            <a:ext cx="548640" cy="548640"/>
          </a:xfrm>
          <a:prstGeom prst="round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663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617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Note R-20 (110 kV) — substance owed by 31.10.2026 — RevC SP-7 apportionment + SP-15 28-day notice + 20.2.2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937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110 kV slip event: 28-day notice clock expired 25.09.2026. 20.2.2 reinstated in full. Slab commencement 21.09.2026 gives a separate, still-open 28-day window (expires 19.10.2026) for any EoT application related to that event.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30952"/>
            <a:ext cx="548640" cy="548640"/>
          </a:xfrm>
          <a:prstGeom prst="round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376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3309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Note the P07 cycle 5 operative-PC correction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509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Operative PC is PDC-PC-001 RevC (FINAL, 24.02.2026), not RevB. SP-7 apportionment regime (not bar); SP-15 28-day notice + 20.2.2 reinstated; SP-9 interim valuation; SP-12 set-off limited; SP-5 / SP-2 / SP-3 / SP-6 / SP-13 reinstated.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