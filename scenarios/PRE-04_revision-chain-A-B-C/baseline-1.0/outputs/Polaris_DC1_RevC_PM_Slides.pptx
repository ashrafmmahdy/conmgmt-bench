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va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565392"/>
            <a:ext cx="12191695" cy="54864"/>
          </a:xfrm>
          <a:prstGeom prst="rect">
            <a:avLst/>
          </a:prstGeom>
          <a:solidFill>
            <a:srgbClr val="1F6FB2"/>
          </a:solidFill>
          <a:ln/>
        </p:spPr>
      </p:sp>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4C"/>
        </a:solidFill>
      </p:bgPr>
    </p:bg>
    <p:spTree>
      <p:nvGrpSpPr>
        <p:cNvPr id="1" name=""/>
        <p:cNvGrpSpPr/>
        <p:nvPr/>
      </p:nvGrpSpPr>
      <p:grpSpPr>
        <a:xfrm>
          <a:off x="0" y="0"/>
          <a:ext cx="0" cy="0"/>
          <a:chOff x="0" y="0"/>
          <a:chExt cx="0" cy="0"/>
        </a:xfrm>
      </p:grpSpPr>
      <p:sp>
        <p:nvSpPr>
          <p:cNvPr id="2" name="Text 0"/>
          <p:cNvSpPr/>
          <p:nvPr/>
        </p:nvSpPr>
        <p:spPr>
          <a:xfrm>
            <a:off x="731520" y="2194560"/>
            <a:ext cx="10728655" cy="1463040"/>
          </a:xfrm>
          <a:prstGeom prst="rect">
            <a:avLst/>
          </a:prstGeom>
          <a:noFill/>
          <a:ln/>
        </p:spPr>
        <p:txBody>
          <a:bodyPr wrap="square" rtlCol="0" anchor="ctr"/>
          <a:lstStyle/>
          <a:p>
            <a:pPr indent="0" marL="0">
              <a:buNone/>
            </a:pPr>
            <a:r>
              <a:rPr lang="en-US" sz="4000" b="1" dirty="0">
                <a:solidFill>
                  <a:srgbClr val="FFFFFF"/>
                </a:solidFill>
                <a:latin typeface="Segoe UI Semibold" pitchFamily="34" charset="0"/>
                <a:ea typeface="Segoe UI Semibold" pitchFamily="34" charset="-122"/>
                <a:cs typeface="Segoe UI Semibold" pitchFamily="34" charset="-120"/>
              </a:rPr>
              <a:t>Polaris DC-1 — Rev C Final</a:t>
            </a:r>
            <a:endParaRPr lang="en-US" sz="4000" dirty="0"/>
          </a:p>
        </p:txBody>
      </p:sp>
      <p:sp>
        <p:nvSpPr>
          <p:cNvPr id="3" name="Shape 1"/>
          <p:cNvSpPr/>
          <p:nvPr/>
        </p:nvSpPr>
        <p:spPr>
          <a:xfrm>
            <a:off x="731520" y="1920240"/>
            <a:ext cx="2011680" cy="64008"/>
          </a:xfrm>
          <a:prstGeom prst="rect">
            <a:avLst/>
          </a:prstGeom>
          <a:solidFill>
            <a:srgbClr val="1F6FB2"/>
          </a:solidFill>
          <a:ln/>
        </p:spPr>
      </p:sp>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9997135" cy="822960"/>
          </a:xfrm>
          <a:prstGeom prst="rect">
            <a:avLst/>
          </a:prstGeom>
          <a:noFill/>
          <a:ln/>
        </p:spPr>
        <p:txBody>
          <a:bodyPr wrap="square" rtlCol="0" anchor="ctr"/>
          <a:lstStyle/>
          <a:p>
            <a:pPr indent="0" marL="0">
              <a:buNone/>
            </a:pPr>
            <a:r>
              <a:rPr lang="en-US" sz="2800" b="1" dirty="0">
                <a:solidFill>
                  <a:srgbClr val="0F2E4C"/>
                </a:solidFill>
                <a:latin typeface="Segoe UI Semibold" pitchFamily="34" charset="0"/>
                <a:ea typeface="Segoe UI Semibold" pitchFamily="34" charset="-122"/>
                <a:cs typeface="Segoe UI Semibold" pitchFamily="34" charset="-120"/>
              </a:rPr>
              <a:t>Project Manager Brief · 2 slides · Drop into your own deck</a:t>
            </a:r>
            <a:endParaRPr lang="en-US" sz="2800" dirty="0"/>
          </a:p>
        </p:txBody>
      </p:sp>
      <p:sp>
        <p:nvSpPr>
          <p:cNvPr id="3" name="Shape 1"/>
          <p:cNvSpPr/>
          <p:nvPr/>
        </p:nvSpPr>
        <p:spPr>
          <a:xfrm>
            <a:off x="548640" y="1207008"/>
            <a:ext cx="1463040" cy="45720"/>
          </a:xfrm>
          <a:prstGeom prst="rect">
            <a:avLst/>
          </a:prstGeom>
          <a:solidFill>
            <a:srgbClr val="1F6FB2"/>
          </a:solidFill>
          <a:ln/>
        </p:spPr>
      </p:sp>
      <p:sp>
        <p:nvSpPr>
          <p:cNvPr id="4" name="Text 2"/>
          <p:cNvSpPr/>
          <p:nvPr/>
        </p:nvSpPr>
        <p:spPr>
          <a:xfrm>
            <a:off x="548640" y="1554480"/>
            <a:ext cx="11094415" cy="566928"/>
          </a:xfrm>
          <a:prstGeom prst="rect">
            <a:avLst/>
          </a:prstGeom>
          <a:noFill/>
          <a:ln/>
        </p:spPr>
        <p:txBody>
          <a:bodyPr wrap="square" rtlCol="0" anchor="ctr"/>
          <a:lstStyle/>
          <a:p>
            <a:pPr indent="0" marL="0">
              <a:buNone/>
            </a:pPr>
            <a:r>
              <a:rPr lang="en-US" sz="1600" dirty="0">
                <a:solidFill>
                  <a:srgbClr val="1C1C1C"/>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9997135" cy="822960"/>
          </a:xfrm>
          <a:prstGeom prst="rect">
            <a:avLst/>
          </a:prstGeom>
          <a:noFill/>
          <a:ln/>
        </p:spPr>
        <p:txBody>
          <a:bodyPr wrap="square" rtlCol="0" anchor="ctr"/>
          <a:lstStyle/>
          <a:p>
            <a:pPr indent="0" marL="0">
              <a:buNone/>
            </a:pPr>
            <a:r>
              <a:rPr lang="en-US" sz="2800" b="1" dirty="0">
                <a:solidFill>
                  <a:srgbClr val="0F2E4C"/>
                </a:solidFill>
                <a:latin typeface="Segoe UI Semibold" pitchFamily="34" charset="0"/>
                <a:ea typeface="Segoe UI Semibold" pitchFamily="34" charset="-122"/>
                <a:cs typeface="Segoe UI Semibold" pitchFamily="34" charset="-120"/>
              </a:rPr>
              <a:t>Rev C — Signed This Week · €92.4M · 22 months · 4 Sections</a:t>
            </a:r>
            <a:endParaRPr lang="en-US" sz="2800" dirty="0"/>
          </a:p>
        </p:txBody>
      </p:sp>
      <p:sp>
        <p:nvSpPr>
          <p:cNvPr id="3" name="Shape 1"/>
          <p:cNvSpPr/>
          <p:nvPr/>
        </p:nvSpPr>
        <p:spPr>
          <a:xfrm>
            <a:off x="548640" y="1207008"/>
            <a:ext cx="1463040" cy="45720"/>
          </a:xfrm>
          <a:prstGeom prst="rect">
            <a:avLst/>
          </a:prstGeom>
          <a:solidFill>
            <a:srgbClr val="1F6FB2"/>
          </a:solidFill>
          <a:ln/>
        </p:spPr>
      </p:sp>
      <p:sp>
        <p:nvSpPr>
          <p:cNvPr id="4" name="Text 2"/>
          <p:cNvSpPr/>
          <p:nvPr/>
        </p:nvSpPr>
        <p:spPr>
          <a:xfrm>
            <a:off x="548640" y="1554480"/>
            <a:ext cx="11094415" cy="1737360"/>
          </a:xfrm>
          <a:prstGeom prst="rect">
            <a:avLst/>
          </a:prstGeom>
          <a:noFill/>
          <a:ln/>
        </p:spPr>
        <p:txBody>
          <a:bodyPr wrap="square" rtlCol="0" anchor="ctr"/>
          <a:lstStyle/>
          <a:p>
            <a:pPr indent="0" marL="0">
              <a:buNone/>
            </a:pPr>
            <a:r>
              <a:rPr lang="en-US" sz="1600" b="1" dirty="0">
                <a:solidFill>
                  <a:srgbClr val="1C1C1C"/>
                </a:solidFill>
                <a:latin typeface="Segoe UI" pitchFamily="34" charset="0"/>
                <a:ea typeface="Segoe UI" pitchFamily="34" charset="-122"/>
                <a:cs typeface="Segoe UI" pitchFamily="34" charset="-120"/>
              </a:rPr>
              <a:t>Advance Payment</a:t>
            </a:r>
            <a:pPr indent="0" marL="0">
              <a:buNone/>
            </a:pPr>
            <a:r>
              <a:rPr lang="en-US" sz="1600" dirty="0">
                <a:solidFill>
                  <a:srgbClr val="1C1C1C"/>
                </a:solidFill>
                <a:latin typeface="Segoe UI" pitchFamily="34" charset="0"/>
                <a:ea typeface="Segoe UI" pitchFamily="34" charset="-122"/>
                <a:cs typeface="Segoe UI" pitchFamily="34" charset="-120"/>
              </a:rPr>
              <a:t> 10% (€9.24M)</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Retention</a:t>
            </a:r>
            <a:pPr indent="0" marL="0">
              <a:buNone/>
            </a:pPr>
            <a:r>
              <a:rPr lang="en-US" sz="1600" dirty="0">
                <a:solidFill>
                  <a:srgbClr val="1C1C1C"/>
                </a:solidFill>
                <a:latin typeface="Segoe UI" pitchFamily="34" charset="0"/>
                <a:ea typeface="Segoe UI" pitchFamily="34" charset="-122"/>
                <a:cs typeface="Segoe UI" pitchFamily="34" charset="-120"/>
              </a:rPr>
              <a:t> 5% · bond option from Day 1</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LD Cap</a:t>
            </a:r>
            <a:pPr indent="0" marL="0">
              <a:buNone/>
            </a:pPr>
            <a:r>
              <a:rPr lang="en-US" sz="1600" dirty="0">
                <a:solidFill>
                  <a:srgbClr val="1C1C1C"/>
                </a:solidFill>
                <a:latin typeface="Segoe UI" pitchFamily="34" charset="0"/>
                <a:ea typeface="Segoe UI" pitchFamily="34" charset="-122"/>
                <a:cs typeface="Segoe UI" pitchFamily="34" charset="-120"/>
              </a:rPr>
              <a:t> 10% (€9.24M)</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Claims Notice</a:t>
            </a:r>
            <a:pPr indent="0" marL="0">
              <a:buNone/>
            </a:pPr>
            <a:r>
              <a:rPr lang="en-US" sz="1600" dirty="0">
                <a:solidFill>
                  <a:srgbClr val="1C1C1C"/>
                </a:solidFill>
                <a:latin typeface="Segoe UI" pitchFamily="34" charset="0"/>
                <a:ea typeface="Segoe UI" pitchFamily="34" charset="-122"/>
                <a:cs typeface="Segoe UI" pitchFamily="34" charset="-120"/>
              </a:rPr>
              <a:t> 28 days (FIDIC standard)</a:t>
            </a:r>
            <a:endParaRPr lang="en-US" sz="1600" dirty="0"/>
          </a:p>
          <a:p>
            <a:pPr indent="0" marL="0">
              <a:buNone/>
            </a:pPr>
            <a:r>
              <a:rPr lang="en-US" sz="1600" dirty="0">
                <a:solidFill>
                  <a:srgbClr val="1C1C1C"/>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9997135" cy="822960"/>
          </a:xfrm>
          <a:prstGeom prst="rect">
            <a:avLst/>
          </a:prstGeom>
          <a:noFill/>
          <a:ln/>
        </p:spPr>
        <p:txBody>
          <a:bodyPr wrap="square" rtlCol="0" anchor="ctr"/>
          <a:lstStyle/>
          <a:p>
            <a:pPr indent="0" marL="0">
              <a:buNone/>
            </a:pPr>
            <a:r>
              <a:rPr lang="en-US" sz="2800" b="1" dirty="0">
                <a:solidFill>
                  <a:srgbClr val="0F2E4C"/>
                </a:solidFill>
                <a:latin typeface="Segoe UI Semibold" pitchFamily="34" charset="0"/>
                <a:ea typeface="Segoe UI Semibold" pitchFamily="34" charset="-122"/>
                <a:cs typeface="Segoe UI Semibold" pitchFamily="34" charset="-120"/>
              </a:rPr>
              <a:t>What Moved at Rev C — Your Site Reality</a:t>
            </a:r>
            <a:endParaRPr lang="en-US" sz="2800" dirty="0"/>
          </a:p>
        </p:txBody>
      </p:sp>
      <p:sp>
        <p:nvSpPr>
          <p:cNvPr id="3" name="Shape 1"/>
          <p:cNvSpPr/>
          <p:nvPr/>
        </p:nvSpPr>
        <p:spPr>
          <a:xfrm>
            <a:off x="548640" y="1207008"/>
            <a:ext cx="1463040" cy="45720"/>
          </a:xfrm>
          <a:prstGeom prst="rect">
            <a:avLst/>
          </a:prstGeom>
          <a:solidFill>
            <a:srgbClr val="1F6FB2"/>
          </a:solidFill>
          <a:ln/>
        </p:spPr>
      </p:sp>
      <p:sp>
        <p:nvSpPr>
          <p:cNvPr id="4" name="Text 2"/>
          <p:cNvSpPr/>
          <p:nvPr/>
        </p:nvSpPr>
        <p:spPr>
          <a:xfrm>
            <a:off x="548640" y="1554480"/>
            <a:ext cx="11094415" cy="2377440"/>
          </a:xfrm>
          <a:prstGeom prst="rect">
            <a:avLst/>
          </a:prstGeom>
          <a:noFill/>
          <a:ln/>
        </p:spPr>
        <p:txBody>
          <a:bodyPr wrap="square" rtlCol="0" anchor="ctr"/>
          <a:lstStyle/>
          <a:p>
            <a:pPr indent="0" marL="0">
              <a:buNone/>
            </a:pPr>
            <a:r>
              <a:rPr lang="en-US" sz="1600" b="1" dirty="0">
                <a:solidFill>
                  <a:srgbClr val="1C1C1C"/>
                </a:solidFill>
                <a:latin typeface="Segoe UI" pitchFamily="34" charset="0"/>
                <a:ea typeface="Segoe UI" pitchFamily="34" charset="-122"/>
                <a:cs typeface="Segoe UI" pitchFamily="34" charset="-120"/>
              </a:rPr>
              <a:t>Ground risk restored in full</a:t>
            </a:r>
            <a:pPr indent="0" marL="0">
              <a:buNone/>
            </a:pPr>
            <a:r>
              <a:rPr lang="en-US" sz="1600" dirty="0">
                <a:solidFill>
                  <a:srgbClr val="1C1C1C"/>
                </a:solidFill>
                <a:latin typeface="Segoe UI" pitchFamily="34" charset="0"/>
                <a:ea typeface="Segoe UI" pitchFamily="34" charset="-122"/>
                <a:cs typeface="Segoe UI" pitchFamily="34" charset="-120"/>
              </a:rPr>
              <a:t> — SP-5 gives you both time AND cost relief for unforeseen physical conditions. The three geotech unknowns (made ground NW, boulder zone central-east, sulphide BH-12) are still yours to investigate before you dig, but anything genuinely unforeseen beyond them attracts EOT + cost. You now have the standard FIDIC 4.12 mechanism.</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Variation work — interim valuation within 28 days</a:t>
            </a:r>
            <a:pPr indent="0" marL="0">
              <a:buNone/>
            </a:pPr>
            <a:r>
              <a:rPr lang="en-US" sz="1600" dirty="0">
                <a:solidFill>
                  <a:srgbClr val="1C1C1C"/>
                </a:solidFill>
                <a:latin typeface="Segoe UI" pitchFamily="34" charset="0"/>
                <a:ea typeface="Segoe UI" pitchFamily="34" charset="-122"/>
                <a:cs typeface="Segoe UI" pitchFamily="34" charset="-120"/>
              </a:rPr>
              <a:t> — SP-9 still requires you to start immediately on instruction, but if price isn't agreed within 28 days the Engineer must make an interim valuation and certify it in the next IPC. You won't be working for free while the commercial team argues about price.</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No more Employer deductions for anticipated Delay Damages</a:t>
            </a:r>
            <a:pPr indent="0" marL="0">
              <a:buNone/>
            </a:pPr>
            <a:r>
              <a:rPr lang="en-US" sz="1600" dirty="0">
                <a:solidFill>
                  <a:srgbClr val="1C1C1C"/>
                </a:solidFill>
                <a:latin typeface="Segoe UI" pitchFamily="34" charset="0"/>
                <a:ea typeface="Segoe UI" pitchFamily="34" charset="-122"/>
                <a:cs typeface="Segoe UI" pitchFamily="34" charset="-120"/>
              </a:rPr>
              <a:t> — SP-12 now limits deductions to damages that have actually accrued and been agreed/determined. No more unilateral withholding based on what the Employer "thinks may become due."</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Concurrent delay bar gone</a:t>
            </a:r>
            <a:pPr indent="0" marL="0">
              <a:buNone/>
            </a:pPr>
            <a:r>
              <a:rPr lang="en-US" sz="1600" dirty="0">
                <a:solidFill>
                  <a:srgbClr val="1C1C1C"/>
                </a:solidFill>
                <a:latin typeface="Segoe UI" pitchFamily="34" charset="0"/>
                <a:ea typeface="Segoe UI" pitchFamily="34" charset="-122"/>
                <a:cs typeface="Segoe UI" pitchFamily="34" charset="-120"/>
              </a:rPr>
              <a:t> — SP-7 now requires the Engineer to apportion delay between concurrent causes fairly. You get EOT for your share of Employer-risk events. You won't lose the whole period.</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28-day claims notice, full FIDIC process</a:t>
            </a:r>
            <a:pPr indent="0" marL="0">
              <a:buNone/>
            </a:pPr>
            <a:r>
              <a:rPr lang="en-US" sz="1600" dirty="0">
                <a:solidFill>
                  <a:srgbClr val="1C1C1C"/>
                </a:solidFill>
                <a:latin typeface="Segoe UI" pitchFamily="34" charset="0"/>
                <a:ea typeface="Segoe UI" pitchFamily="34" charset="-122"/>
                <a:cs typeface="Segoe UI" pitchFamily="34" charset="-120"/>
              </a:rPr>
              <a:t> — SP-15 restores the standard 28-day notice with Sub-Clause 20.2.2 fully operational. Engineer must notify you of any non-compliance and the consequences of failing to do so. No more absolute time bar.</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Performance warranty — reasonable skill and care</a:t>
            </a:r>
            <a:pPr indent="0" marL="0">
              <a:buNone/>
            </a:pPr>
            <a:r>
              <a:rPr lang="en-US" sz="1600" dirty="0">
                <a:solidFill>
                  <a:srgbClr val="1C1C1C"/>
                </a:solidFill>
                <a:latin typeface="Segoe UI" pitchFamily="34" charset="0"/>
                <a:ea typeface="Segoe UI" pitchFamily="34" charset="-122"/>
                <a:cs typeface="Segoe UI" pitchFamily="34" charset="-120"/>
              </a:rPr>
              <a:t> — SP-6 now says "reasonable skill, care and diligence." The PUE/WUE/availability/waste-heat targets remain as performance guarantees, but you are judged against a professional standard, not an absolute one. You have a defence if the targets are unachievable through no fault of your design.</a:t>
            </a:r>
            <a:endParaRPr lang="en-US" sz="1600" dirty="0"/>
          </a:p>
          <a:p>
            <a:pPr indent="0" marL="0">
              <a:buNone/>
            </a:pPr>
            <a:r>
              <a:rPr lang="en-US" sz="1600" b="1" dirty="0">
                <a:solidFill>
                  <a:srgbClr val="1C1C1C"/>
                </a:solidFill>
                <a:latin typeface="Segoe UI" pitchFamily="34" charset="0"/>
                <a:ea typeface="Segoe UI" pitchFamily="34" charset="-122"/>
                <a:cs typeface="Segoe UI" pitchFamily="34" charset="-120"/>
              </a:rPr>
              <a:t>One thing to be aware of:</a:t>
            </a:r>
            <a:pPr indent="0" marL="0">
              <a:buNone/>
            </a:pPr>
            <a:r>
              <a:rPr lang="en-US" sz="1600" dirty="0">
                <a:solidFill>
                  <a:srgbClr val="1C1C1C"/>
                </a:solidFill>
                <a:latin typeface="Segoe UI" pitchFamily="34" charset="0"/>
                <a:ea typeface="Segoe UI" pitchFamily="34" charset="-122"/>
                <a:cs typeface="Segoe UI" pitchFamily="34" charset="-120"/>
              </a:rPr>
              <a:t> No DAAB. Disputes go straight to Finland Chamber of Commerce arbitration in Helsinki. Document your site records meticulously — if a dispute reaches arbitration, your contemporaneous records are your only narrative.</a:t>
            </a:r>
            <a:endParaRPr lang="en-US" sz="1600" dirty="0"/>
          </a:p>
          <a:p>
            <a:pPr indent="0" marL="0">
              <a:buNone/>
            </a:pPr>
            <a:r>
              <a:rPr lang="en-US" sz="1600" dirty="0">
                <a:solidFill>
                  <a:srgbClr val="1C1C1C"/>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9997135" cy="822960"/>
          </a:xfrm>
          <a:prstGeom prst="rect">
            <a:avLst/>
          </a:prstGeom>
          <a:noFill/>
          <a:ln/>
        </p:spPr>
        <p:txBody>
          <a:bodyPr wrap="square" rtlCol="0" anchor="ctr"/>
          <a:lstStyle/>
          <a:p>
            <a:pPr indent="0" marL="0">
              <a:buNone/>
            </a:pPr>
            <a:r>
              <a:rPr lang="en-US" sz="2800" b="1" dirty="0">
                <a:solidFill>
                  <a:srgbClr val="0F2E4C"/>
                </a:solidFill>
                <a:latin typeface="Segoe UI Semibold" pitchFamily="34" charset="0"/>
                <a:ea typeface="Segoe UI Semibold" pitchFamily="34" charset="-122"/>
                <a:cs typeface="Segoe UI Semibold" pitchFamily="34" charset="-120"/>
              </a:rPr>
              <a:t>Notes for your deck</a:t>
            </a:r>
            <a:endParaRPr lang="en-US" sz="2800" dirty="0"/>
          </a:p>
        </p:txBody>
      </p:sp>
      <p:sp>
        <p:nvSpPr>
          <p:cNvPr id="3" name="Shape 1"/>
          <p:cNvSpPr/>
          <p:nvPr/>
        </p:nvSpPr>
        <p:spPr>
          <a:xfrm>
            <a:off x="548640" y="1207008"/>
            <a:ext cx="1463040" cy="45720"/>
          </a:xfrm>
          <a:prstGeom prst="rect">
            <a:avLst/>
          </a:prstGeom>
          <a:solidFill>
            <a:srgbClr val="1F6FB2"/>
          </a:solidFill>
          <a:ln/>
        </p:spPr>
      </p:sp>
      <p:sp>
        <p:nvSpPr>
          <p:cNvPr id="4" name="Text 2"/>
          <p:cNvSpPr/>
          <p:nvPr/>
        </p:nvSpPr>
        <p:spPr>
          <a:xfrm>
            <a:off x="548640" y="1554480"/>
            <a:ext cx="11094415" cy="4572000"/>
          </a:xfrm>
          <a:prstGeom prst="rect">
            <a:avLst/>
          </a:prstGeom>
          <a:noFill/>
          <a:ln/>
        </p:spPr>
        <p:txBody>
          <a:bodyPr wrap="square" rtlCol="0" anchor="ctr"/>
          <a:lstStyle/>
          <a:p>
            <a:pPr marL="342900" indent="-342900">
              <a:buSzPct val="100000"/>
              <a:buChar char="•"/>
            </a:pPr>
            <a:r>
              <a:rPr lang="en-US" sz="1600" dirty="0">
                <a:solidFill>
                  <a:srgbClr val="1C1C1C"/>
                </a:solidFill>
                <a:latin typeface="Segoe UI" pitchFamily="34" charset="0"/>
                <a:ea typeface="Segoe UI" pitchFamily="34" charset="-122"/>
                <a:cs typeface="Segoe UI" pitchFamily="34" charset="-120"/>
              </a:rPr>
              <a:t>Slide 1 is a KPI layout — four big numbers, clean</a:t>
            </a:r>
            <a:endParaRPr lang="en-US" sz="1600" dirty="0"/>
          </a:p>
          <a:p>
            <a:pPr marL="342900" indent="-342900">
              <a:buSzPct val="100000"/>
              <a:buChar char="•"/>
            </a:pPr>
            <a:r>
              <a:rPr lang="en-US" sz="1600" dirty="0">
                <a:solidFill>
                  <a:srgbClr val="1C1C1C"/>
                </a:solidFill>
                <a:latin typeface="Segoe UI" pitchFamily="34" charset="0"/>
                <a:ea typeface="Segoe UI" pitchFamily="34" charset="-122"/>
                <a:cs typeface="Segoe UI" pitchFamily="34" charset="-120"/>
              </a:rPr>
              <a:t>Slide 2 is the operational summary — what the Rev C changes mean for how you run the site</a:t>
            </a:r>
            <a:endParaRPr lang="en-US" sz="1600" dirty="0"/>
          </a:p>
          <a:p>
            <a:pPr marL="342900" indent="-342900">
              <a:buSzPct val="100000"/>
              <a:buChar char="•"/>
            </a:pPr>
            <a:r>
              <a:rPr lang="en-US" sz="1600" dirty="0">
                <a:solidFill>
                  <a:srgbClr val="1C1C1C"/>
                </a:solidFill>
                <a:latin typeface="Segoe UI" pitchFamily="34" charset="0"/>
                <a:ea typeface="Segoe UI" pitchFamily="34" charset="-122"/>
                <a:cs typeface="Segoe UI" pitchFamily="34" charset="-120"/>
              </a:rPr>
              <a:t>The 10% performance security (on-demand bond) and PI insurance (€10M per claim, 6-year tail) are unchanged from before — you already have those in hand</a:t>
            </a:r>
            <a:endParaRPr lang="en-US" sz="1600" dirty="0"/>
          </a:p>
          <a:p>
            <a:pPr marL="342900" indent="-342900">
              <a:buSzPct val="100000"/>
              <a:buChar char="•"/>
            </a:pPr>
            <a:r>
              <a:rPr lang="en-US" sz="1600" dirty="0">
                <a:solidFill>
                  <a:srgbClr val="1C1C1C"/>
                </a:solidFill>
                <a:latin typeface="Segoe UI" pitchFamily="34" charset="0"/>
                <a:ea typeface="Segoe UI" pitchFamily="34" charset="-122"/>
                <a:cs typeface="Segoe UI" pitchFamily="34" charset="-120"/>
              </a:rPr>
              <a:t>All site constraints from Rev A (blasting hours, noise limits, 110kV line, aviation height, shared access) are unchanged</a:t>
            </a:r>
            <a:endParaRPr lang="en-US" sz="1600" dirty="0"/>
          </a:p>
        </p:txBody>
      </p:sp>
      <p:sp>
        <p:nvSpPr>
          <p:cNvPr id="25" name="Slide Number Placeholder 0"/>
          <p:cNvSpPr>
            <a:spLocks noGrp="1"/>
          </p:cNvSpPr>
          <p:nvPr>
            <p:ph type="sldNum" sz="quarter" idx="4294967295"/>
          </p:nvPr>
        </p:nvSpPr>
        <p:spPr>
          <a:xfrm>
            <a:off x="457200" y="640080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2026-07-31T00:22:26Z</dcterms:created>
  <dcterms:modified xsi:type="dcterms:W3CDTF">2026-07-31T00:22:26Z</dcterms:modified>
</cp:coreProperties>
</file>