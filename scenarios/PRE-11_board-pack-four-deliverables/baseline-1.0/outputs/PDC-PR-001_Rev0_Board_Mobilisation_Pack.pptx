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6000" b="1" i="0">
                <a:solidFill>
                  <a:srgbClr val="FFFFFF"/>
                </a:solidFill>
                <a:latin typeface="Calibri"/>
              </a:defRPr>
            </a:pPr>
            <a:r>
              <a:t>Polaris DC-1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560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0" i="0">
                <a:solidFill>
                  <a:srgbClr val="FFC107"/>
                </a:solidFill>
                <a:latin typeface="Calibri"/>
              </a:defRPr>
            </a:pPr>
            <a:r>
              <a:t>Mobilisation Pack — Board Approval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 i="1">
                <a:solidFill>
                  <a:srgbClr val="FFFFFF"/>
                </a:solidFill>
                <a:latin typeface="Calibri"/>
              </a:defRPr>
            </a:pPr>
            <a:r>
              <a:t>Aviapolis Data Campus, Vantaa · Phase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1148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 i="0">
                <a:solidFill>
                  <a:srgbClr val="CCDDEE"/>
                </a:solidFill>
                <a:latin typeface="Calibri"/>
              </a:defRPr>
            </a:pPr>
            <a:r>
              <a:t>8 August 2026 · FIDIC Yellow Book 2017 D&amp;B lump sum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 i="0">
                <a:solidFill>
                  <a:srgbClr val="CCDDEE"/>
                </a:solidFill>
                <a:latin typeface="Calibri"/>
              </a:defRPr>
            </a:pPr>
            <a:r>
              <a:t>Contract Sum €92,400,000  ·  Time for Completion 22 months  ·  Four Sections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943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 i="1">
                <a:solidFill>
                  <a:srgbClr val="AABBCC"/>
                </a:solidFill>
                <a:latin typeface="Calibri"/>
              </a:defRPr>
            </a:pPr>
            <a:r>
              <a:t>PDC-PR-001 Rev 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91440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The board is asked to approve three things</a:t>
            </a:r>
          </a:p>
          <a:p>
            <a:pPr>
              <a:defRPr sz="1200" i="1">
                <a:solidFill>
                  <a:srgbClr val="CCDDEE"/>
                </a:solidFill>
              </a:defRPr>
            </a:pPr>
            <a:r>
              <a:t>Mobilisation gate · week +1 Thursday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3657600" cy="4572000"/>
          </a:xfrm>
          <a:prstGeom prst="rect">
            <a:avLst/>
          </a:prstGeom>
          <a:solidFill>
            <a:srgbClr val="F5F8FC"/>
          </a:solidFill>
          <a:ln>
            <a:solidFill>
              <a:srgbClr val="1F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82880" wrap="square"/>
          <a:lstStyle/>
          <a:p>
            <a:pPr algn="ctr">
              <a:defRPr sz="4800" b="1">
                <a:solidFill>
                  <a:srgbClr val="1F4E78"/>
                </a:solidFill>
              </a:defRPr>
            </a:pPr>
            <a:r>
              <a:t>1</a:t>
            </a:r>
          </a:p>
          <a:p>
            <a:pPr>
              <a:defRPr sz="1600" b="1">
                <a:solidFill>
                  <a:srgbClr val="1F4E78"/>
                </a:solidFill>
              </a:defRPr>
            </a:pPr>
            <a:r>
              <a:t>Pre-Commencement procurement of LT-01 transformers</a:t>
            </a:r>
          </a:p>
          <a:p>
            <a:pPr>
              <a:defRPr sz="1200">
                <a:solidFill>
                  <a:srgbClr val="606060"/>
                </a:solidFill>
              </a:defRPr>
            </a:pPr>
            <a:r>
              <a:t>110/20 kV, 16 MVA, 52-week lead</a:t>
            </a:r>
          </a:p>
          <a:p>
            <a:pPr>
              <a:defRPr sz="1200" b="1">
                <a:solidFill>
                  <a:srgbClr val="C00000"/>
                </a:solidFill>
              </a:defRPr>
            </a:pPr>
            <a:r>
              <a:t>Order-by 16 Jan 2026 — already past on Commencement 2 Mar 2026</a:t>
            </a:r>
          </a:p>
          <a:p>
            <a:pPr>
              <a:defRPr sz="1300" b="1">
                <a:solidFill>
                  <a:srgbClr val="C00000"/>
                </a:solidFill>
              </a:defRPr>
            </a:pPr>
            <a:r>
              <a:t>Without this, Section 1 (TfC 2 May 2027) cannot be achieved.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0" y="1188720"/>
            <a:ext cx="3657600" cy="4572000"/>
          </a:xfrm>
          <a:prstGeom prst="rect">
            <a:avLst/>
          </a:prstGeom>
          <a:solidFill>
            <a:srgbClr val="F5F8FC"/>
          </a:solidFill>
          <a:ln>
            <a:solidFill>
              <a:srgbClr val="1F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82880" wrap="square"/>
          <a:lstStyle/>
          <a:p>
            <a:pPr algn="ctr">
              <a:defRPr sz="4800" b="1">
                <a:solidFill>
                  <a:srgbClr val="1F4E78"/>
                </a:solidFill>
              </a:defRPr>
            </a:pPr>
            <a:r>
              <a:t>2</a:t>
            </a:r>
          </a:p>
          <a:p>
            <a:pPr>
              <a:defRPr sz="1600" b="1">
                <a:solidFill>
                  <a:srgbClr val="1F4E78"/>
                </a:solidFill>
              </a:defRPr>
            </a:pPr>
            <a:r>
              <a:t>Sectional completion framework</a:t>
            </a:r>
          </a:p>
          <a:p>
            <a:pPr>
              <a:defRPr sz="1200">
                <a:solidFill>
                  <a:srgbClr val="606060"/>
                </a:solidFill>
              </a:defRPr>
            </a:pPr>
            <a:r>
              <a:t>S1 14mo (2 May 27)  ·  S2 16mo (2 Jul 27)</a:t>
            </a:r>
          </a:p>
          <a:p>
            <a:pPr>
              <a:defRPr sz="1200">
                <a:solidFill>
                  <a:srgbClr val="606060"/>
                </a:solidFill>
              </a:defRPr>
            </a:pPr>
            <a:r>
              <a:t>S3 19mo (2 Oct 27)  ·  S4 22mo (2 Jan 28)</a:t>
            </a:r>
          </a:p>
          <a:p>
            <a:pPr>
              <a:defRPr sz="1300">
                <a:solidFill>
                  <a:srgbClr val="1F4E78"/>
                </a:solidFill>
              </a:defRPr>
            </a:pPr>
            <a:r>
              <a:t>Endorse the four TfCs as the delivery thesis.</a:t>
            </a:r>
          </a:p>
        </p:txBody>
      </p:sp>
      <p:sp>
        <p:nvSpPr>
          <p:cNvPr id="5" name="Rectangle 4"/>
          <p:cNvSpPr/>
          <p:nvPr/>
        </p:nvSpPr>
        <p:spPr>
          <a:xfrm>
            <a:off x="8595360" y="1188720"/>
            <a:ext cx="3657600" cy="4572000"/>
          </a:xfrm>
          <a:prstGeom prst="rect">
            <a:avLst/>
          </a:prstGeom>
          <a:solidFill>
            <a:srgbClr val="F5F8FC"/>
          </a:solidFill>
          <a:ln>
            <a:solidFill>
              <a:srgbClr val="1F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82880" wrap="square"/>
          <a:lstStyle/>
          <a:p>
            <a:pPr algn="ctr">
              <a:defRPr sz="4800" b="1">
                <a:solidFill>
                  <a:srgbClr val="1F4E78"/>
                </a:solidFill>
              </a:defRPr>
            </a:pPr>
            <a:r>
              <a:t>3</a:t>
            </a:r>
          </a:p>
          <a:p>
            <a:pPr>
              <a:defRPr sz="1600" b="1">
                <a:solidFill>
                  <a:srgbClr val="1F4E78"/>
                </a:solidFill>
              </a:defRPr>
            </a:pPr>
            <a:r>
              <a:t>Advance + performance security</a:t>
            </a:r>
          </a:p>
          <a:p>
            <a:pPr>
              <a:defRPr sz="1200">
                <a:solidFill>
                  <a:srgbClr val="606060"/>
                </a:solidFill>
              </a:defRPr>
            </a:pPr>
            <a:r>
              <a:t>Advance: €9.24M (10% of contract sum)</a:t>
            </a:r>
          </a:p>
          <a:p>
            <a:pPr>
              <a:defRPr sz="1200">
                <a:solidFill>
                  <a:srgbClr val="606060"/>
                </a:solidFill>
              </a:defRPr>
            </a:pPr>
            <a:r>
              <a:t>Performance security: €9.24M (10% bank guarantee)</a:t>
            </a:r>
          </a:p>
          <a:p>
            <a:pPr>
              <a:defRPr sz="1300">
                <a:solidFill>
                  <a:srgbClr val="1F4E78"/>
                </a:solidFill>
              </a:defRPr>
            </a:pPr>
            <a:r>
              <a:t>Approve execution in line with PC RevC.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5943600"/>
            <a:ext cx="11064240" cy="640080"/>
          </a:xfrm>
          <a:prstGeom prst="rect">
            <a:avLst/>
          </a:prstGeom>
          <a:solidFill>
            <a:srgbClr val="FFC107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 i="0">
                <a:solidFill>
                  <a:srgbClr val="C00000"/>
                </a:solidFill>
                <a:latin typeface="Calibri"/>
              </a:defRPr>
            </a:pPr>
            <a:r>
              <a:t>Item 1 is time-critical: without pre-Commencement procurement authorisation by 2 March 2026, LT-01 cannot be ordered in time.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91440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Project at a glance</a:t>
            </a:r>
          </a:p>
          <a:p>
            <a:pPr>
              <a:defRPr sz="1200" i="1">
                <a:solidFill>
                  <a:srgbClr val="CCDDEE"/>
                </a:solidFill>
              </a:defRPr>
            </a:pPr>
            <a:r>
              <a:t>What we're building, who it's for, when it's done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97280"/>
            <a:ext cx="3657600" cy="2103120"/>
          </a:xfrm>
          <a:prstGeom prst="rect">
            <a:avLst/>
          </a:prstGeom>
          <a:solidFill>
            <a:srgbClr val="F5F8FC"/>
          </a:solidFill>
          <a:ln>
            <a:solidFill>
              <a:srgbClr val="1F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28016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 i="0">
                <a:solidFill>
                  <a:srgbClr val="1F4E78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22860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1F4E78"/>
                </a:solidFill>
                <a:latin typeface="Calibri"/>
              </a:defRPr>
            </a:pPr>
            <a:r>
              <a:t>data halls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6517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1">
                <a:solidFill>
                  <a:srgbClr val="606060"/>
                </a:solidFill>
                <a:latin typeface="Calibri"/>
              </a:defRPr>
            </a:pPr>
            <a:r>
              <a:t>DH1 → DH4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0" y="1097280"/>
            <a:ext cx="3657600" cy="2103120"/>
          </a:xfrm>
          <a:prstGeom prst="rect">
            <a:avLst/>
          </a:prstGeom>
          <a:solidFill>
            <a:srgbClr val="F5F8FC"/>
          </a:solidFill>
          <a:ln>
            <a:solidFill>
              <a:srgbClr val="1F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0" y="128016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 i="0">
                <a:solidFill>
                  <a:srgbClr val="1F4E78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22860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1F4E78"/>
                </a:solidFill>
                <a:latin typeface="Calibri"/>
              </a:defRPr>
            </a:pPr>
            <a:r>
              <a:t>Sections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26517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1">
                <a:solidFill>
                  <a:srgbClr val="606060"/>
                </a:solidFill>
                <a:latin typeface="Calibri"/>
              </a:defRPr>
            </a:pPr>
            <a:r>
              <a:t>TfC 14/16/19/22 mo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12480" y="1097280"/>
            <a:ext cx="3657600" cy="2103120"/>
          </a:xfrm>
          <a:prstGeom prst="rect">
            <a:avLst/>
          </a:prstGeom>
          <a:solidFill>
            <a:srgbClr val="F5F8FC"/>
          </a:solidFill>
          <a:ln>
            <a:solidFill>
              <a:srgbClr val="1F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0" y="128016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 i="0">
                <a:solidFill>
                  <a:srgbClr val="1F4E78"/>
                </a:solidFill>
                <a:latin typeface="Calibri"/>
              </a:defRPr>
            </a:pPr>
            <a:r>
              <a:t>22 mo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22860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1F4E78"/>
                </a:solidFill>
                <a:latin typeface="Calibri"/>
              </a:defRPr>
            </a:pPr>
            <a:r>
              <a:t>build period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26517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1">
                <a:solidFill>
                  <a:srgbClr val="606060"/>
                </a:solidFill>
                <a:latin typeface="Calibri"/>
              </a:defRPr>
            </a:pPr>
            <a:r>
              <a:t>Mar 2026 → Jan 2028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474720"/>
            <a:ext cx="3657600" cy="2103120"/>
          </a:xfrm>
          <a:prstGeom prst="rect">
            <a:avLst/>
          </a:prstGeom>
          <a:solidFill>
            <a:srgbClr val="F5F8FC"/>
          </a:solidFill>
          <a:ln>
            <a:solidFill>
              <a:srgbClr val="1F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365760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 i="0">
                <a:solidFill>
                  <a:srgbClr val="1F4E78"/>
                </a:solidFill>
                <a:latin typeface="Calibri"/>
              </a:defRPr>
            </a:pPr>
            <a:r>
              <a:t>€92.4M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46634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1F4E78"/>
                </a:solidFill>
                <a:latin typeface="Calibri"/>
              </a:defRPr>
            </a:pPr>
            <a:r>
              <a:t>contract sum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50292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1">
                <a:solidFill>
                  <a:srgbClr val="606060"/>
                </a:solidFill>
                <a:latin typeface="Calibri"/>
              </a:defRPr>
            </a:pPr>
            <a:r>
              <a:t>BOQ PDC-BOQ-001 Rev 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89120" y="3474720"/>
            <a:ext cx="3657600" cy="2103120"/>
          </a:xfrm>
          <a:prstGeom prst="rect">
            <a:avLst/>
          </a:prstGeom>
          <a:solidFill>
            <a:srgbClr val="F5F8FC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89120" y="365760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 i="0">
                <a:solidFill>
                  <a:srgbClr val="C00000"/>
                </a:solidFill>
                <a:latin typeface="Calibri"/>
              </a:defRPr>
            </a:pPr>
            <a:r>
              <a:t>€9.24M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0" y="46634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1F4E78"/>
                </a:solidFill>
                <a:latin typeface="Calibri"/>
              </a:defRPr>
            </a:pPr>
            <a:r>
              <a:t>max LD exposure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50292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1">
                <a:solidFill>
                  <a:srgbClr val="606060"/>
                </a:solidFill>
                <a:latin typeface="Calibri"/>
              </a:defRPr>
            </a:pPr>
            <a:r>
              <a:t>10% aggregate cap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412480" y="3474720"/>
            <a:ext cx="3657600" cy="2103120"/>
          </a:xfrm>
          <a:prstGeom prst="rect">
            <a:avLst/>
          </a:prstGeom>
          <a:solidFill>
            <a:srgbClr val="F5F8FC"/>
          </a:solidFill>
          <a:ln>
            <a:solidFill>
              <a:srgbClr val="006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80" y="365760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 i="0">
                <a:solidFill>
                  <a:srgbClr val="006400"/>
                </a:solidFill>
                <a:latin typeface="Calibri"/>
              </a:defRPr>
            </a:pPr>
            <a:r>
              <a:t>+€4.26M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46634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1F4E78"/>
                </a:solidFill>
                <a:latin typeface="Calibri"/>
              </a:defRPr>
            </a:pPr>
            <a:r>
              <a:t>minimum cash buffer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50292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1">
                <a:solidFill>
                  <a:srgbClr val="606060"/>
                </a:solidFill>
                <a:latin typeface="Calibri"/>
              </a:defRPr>
            </a:pPr>
            <a:r>
              <a:t>May 2027 — base case needs NO facility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1264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1">
                <a:solidFill>
                  <a:srgbClr val="606060"/>
                </a:solidFill>
                <a:latin typeface="Calibri"/>
              </a:defRPr>
            </a:pPr>
            <a:r>
              <a:t>Employer: Polaris Digital Infrastructure Oy    ·    Contractor: NordBuild Oy    ·    Engineer: Norvia Consulting Oy    ·    Contract: FIDIC YB 2017 D&amp;B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91440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Phasing — sectional completion</a:t>
            </a:r>
          </a:p>
          <a:p>
            <a:pPr>
              <a:defRPr sz="1200" i="1">
                <a:solidFill>
                  <a:srgbClr val="CCDDEE"/>
                </a:solidFill>
              </a:defRPr>
            </a:pPr>
            <a:r>
              <a:t>Four TfCs, four Delay Damages rates, aggregate cap 10%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828800" y="1371600"/>
            <a:ext cx="0" cy="2743200"/>
          </a:xfrm>
          <a:prstGeom prst="line">
            <a:avLst/>
          </a:prstGeom>
          <a:ln w="3175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645920" y="416052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606060"/>
                </a:solidFill>
                <a:latin typeface="Calibri"/>
              </a:defRPr>
            </a:pPr>
            <a:r>
              <a:t>M0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286000" y="1371600"/>
            <a:ext cx="0" cy="2743200"/>
          </a:xfrm>
          <a:prstGeom prst="line">
            <a:avLst/>
          </a:prstGeom>
          <a:ln w="3175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743200" y="1371600"/>
            <a:ext cx="0" cy="2743200"/>
          </a:xfrm>
          <a:prstGeom prst="line">
            <a:avLst/>
          </a:prstGeom>
          <a:ln w="3175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200400" y="1371600"/>
            <a:ext cx="0" cy="2743200"/>
          </a:xfrm>
          <a:prstGeom prst="line">
            <a:avLst/>
          </a:prstGeom>
          <a:ln w="3175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017520" y="416052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606060"/>
                </a:solidFill>
                <a:latin typeface="Calibri"/>
              </a:defRPr>
            </a:pPr>
            <a:r>
              <a:t>M3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657600" y="1371600"/>
            <a:ext cx="0" cy="2743200"/>
          </a:xfrm>
          <a:prstGeom prst="line">
            <a:avLst/>
          </a:prstGeom>
          <a:ln w="3175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114800" y="1371600"/>
            <a:ext cx="0" cy="2743200"/>
          </a:xfrm>
          <a:prstGeom prst="line">
            <a:avLst/>
          </a:prstGeom>
          <a:ln w="3175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572000" y="1371600"/>
            <a:ext cx="0" cy="2743200"/>
          </a:xfrm>
          <a:prstGeom prst="line">
            <a:avLst/>
          </a:prstGeom>
          <a:ln w="3175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389120" y="416052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606060"/>
                </a:solidFill>
                <a:latin typeface="Calibri"/>
              </a:defRPr>
            </a:pPr>
            <a:r>
              <a:t>M6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029200" y="1371600"/>
            <a:ext cx="0" cy="2743200"/>
          </a:xfrm>
          <a:prstGeom prst="line">
            <a:avLst/>
          </a:prstGeom>
          <a:ln w="3175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5486400" y="1371600"/>
            <a:ext cx="0" cy="2743200"/>
          </a:xfrm>
          <a:prstGeom prst="line">
            <a:avLst/>
          </a:prstGeom>
          <a:ln w="3175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943600" y="1371600"/>
            <a:ext cx="0" cy="2743200"/>
          </a:xfrm>
          <a:prstGeom prst="line">
            <a:avLst/>
          </a:prstGeom>
          <a:ln w="3175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760720" y="416052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606060"/>
                </a:solidFill>
                <a:latin typeface="Calibri"/>
              </a:defRPr>
            </a:pPr>
            <a:r>
              <a:t>M9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400800" y="1371600"/>
            <a:ext cx="0" cy="2743200"/>
          </a:xfrm>
          <a:prstGeom prst="line">
            <a:avLst/>
          </a:prstGeom>
          <a:ln w="3175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858000" y="1371600"/>
            <a:ext cx="0" cy="2743200"/>
          </a:xfrm>
          <a:prstGeom prst="line">
            <a:avLst/>
          </a:prstGeom>
          <a:ln w="3175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315200" y="1371600"/>
            <a:ext cx="0" cy="2743200"/>
          </a:xfrm>
          <a:prstGeom prst="line">
            <a:avLst/>
          </a:prstGeom>
          <a:ln w="3175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132320" y="416052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606060"/>
                </a:solidFill>
                <a:latin typeface="Calibri"/>
              </a:defRPr>
            </a:pPr>
            <a:r>
              <a:t>M12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772400" y="1371600"/>
            <a:ext cx="0" cy="2743200"/>
          </a:xfrm>
          <a:prstGeom prst="line">
            <a:avLst/>
          </a:prstGeom>
          <a:ln w="3175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8229600" y="1371600"/>
            <a:ext cx="0" cy="2743200"/>
          </a:xfrm>
          <a:prstGeom prst="line">
            <a:avLst/>
          </a:prstGeom>
          <a:ln w="3175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686800" y="1371600"/>
            <a:ext cx="0" cy="2743200"/>
          </a:xfrm>
          <a:prstGeom prst="line">
            <a:avLst/>
          </a:prstGeom>
          <a:ln w="3175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8503920" y="416052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606060"/>
                </a:solidFill>
                <a:latin typeface="Calibri"/>
              </a:defRPr>
            </a:pPr>
            <a:r>
              <a:t>M15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144000" y="1371600"/>
            <a:ext cx="0" cy="2743200"/>
          </a:xfrm>
          <a:prstGeom prst="line">
            <a:avLst/>
          </a:prstGeom>
          <a:ln w="3175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9601200" y="1371600"/>
            <a:ext cx="0" cy="2743200"/>
          </a:xfrm>
          <a:prstGeom prst="line">
            <a:avLst/>
          </a:prstGeom>
          <a:ln w="3175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0058400" y="1371600"/>
            <a:ext cx="0" cy="2743200"/>
          </a:xfrm>
          <a:prstGeom prst="line">
            <a:avLst/>
          </a:prstGeom>
          <a:ln w="3175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9875520" y="416052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606060"/>
                </a:solidFill>
                <a:latin typeface="Calibri"/>
              </a:defRPr>
            </a:pPr>
            <a:r>
              <a:t>M18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10515600" y="1371600"/>
            <a:ext cx="0" cy="2743200"/>
          </a:xfrm>
          <a:prstGeom prst="line">
            <a:avLst/>
          </a:prstGeom>
          <a:ln w="3175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0972800" y="1371600"/>
            <a:ext cx="0" cy="2743200"/>
          </a:xfrm>
          <a:prstGeom prst="line">
            <a:avLst/>
          </a:prstGeom>
          <a:ln w="3175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1430000" y="1371600"/>
            <a:ext cx="0" cy="2743200"/>
          </a:xfrm>
          <a:prstGeom prst="line">
            <a:avLst/>
          </a:prstGeom>
          <a:ln w="3175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11247120" y="416052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606060"/>
                </a:solidFill>
                <a:latin typeface="Calibri"/>
              </a:defRPr>
            </a:pPr>
            <a:r>
              <a:t>M21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11887200" y="1371600"/>
            <a:ext cx="0" cy="2743200"/>
          </a:xfrm>
          <a:prstGeom prst="line">
            <a:avLst/>
          </a:prstGeom>
          <a:ln w="3175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1828800" y="1463040"/>
            <a:ext cx="6400800" cy="45720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S1 · 14mo · 2 May 2027 · €18,000/day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0" y="2103119"/>
            <a:ext cx="7315200" cy="4572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S2 · 16mo · 2 Jul 2027 · €12,000/day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00400" y="2743200"/>
            <a:ext cx="8686800" cy="45720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S3 · 19mo · 2 Oct 2027 · €12,000/day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0" y="3383279"/>
            <a:ext cx="10058400" cy="457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S4 · 22mo · 2 Jan 2028 · €10,000/day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" y="585216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 i="1">
                <a:solidFill>
                  <a:srgbClr val="606060"/>
                </a:solidFill>
                <a:latin typeface="Calibri"/>
              </a:defRPr>
            </a:pPr>
            <a:r>
              <a:t>Aggregate LD cap: 10% of contract sum = €9,240,000 (cumulative, concurrent accrual subject to cap).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5760" y="62179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1">
                <a:solidFill>
                  <a:srgbClr val="606060"/>
                </a:solidFill>
                <a:latin typeface="Calibri"/>
              </a:defRPr>
            </a:pPr>
            <a:r>
              <a:t>Section 1 carries the highest daily LD (€18,000) because it is the critical-path section — substation, generators, shared cooling spine, gatehouse.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91440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Sequence and package interfaces</a:t>
            </a:r>
          </a:p>
          <a:p>
            <a:pPr>
              <a:defRPr sz="1200" i="1">
                <a:solidFill>
                  <a:srgbClr val="CCDDEE"/>
                </a:solidFill>
              </a:defRPr>
            </a:pPr>
            <a:r>
              <a:t>Eight tender packages + main-contract commissioning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9728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 i="0">
                <a:solidFill>
                  <a:srgbClr val="1F4E78"/>
                </a:solidFill>
                <a:latin typeface="Calibri"/>
              </a:defRPr>
            </a:pPr>
            <a:r>
              <a:t>Per-hall build pattern (DH1 → DH4)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55448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latin typeface="Calibri"/>
              </a:defRPr>
            </a:pPr>
            <a:r>
              <a:t>• TP-001 Earthworks &amp; Substructure → TP-002 Steel frame → TP-003 Envelope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92024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latin typeface="Calibri"/>
              </a:defRPr>
            </a:pPr>
            <a:r>
              <a:t>• TP-006 Electrical rough-in (transformers, busway, switchgear)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28600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latin typeface="Calibri"/>
              </a:defRPr>
            </a:pPr>
            <a:r>
              <a:t>• TP-005 Mechanical rough-in (chillers, dry coolers, CRAH)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65176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latin typeface="Calibri"/>
              </a:defRPr>
            </a:pPr>
            <a:r>
              <a:t>• TP-004 Finishes &amp; data-hall containment (raised access, partitions)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01752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latin typeface="Calibri"/>
              </a:defRPr>
            </a:pPr>
            <a:r>
              <a:t>• TP-007 ELV / BMS / suppression / fire detection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338328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latin typeface="Calibri"/>
              </a:defRPr>
            </a:pPr>
            <a:r>
              <a:t>• L1–L5 Commissioning (MS-11 to MS-13 for Section 1)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09728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 i="0">
                <a:solidFill>
                  <a:srgbClr val="1F4E78"/>
                </a:solidFill>
                <a:latin typeface="Calibri"/>
              </a:defRPr>
            </a:pPr>
            <a:r>
              <a:t>Critical interfaces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1554480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latin typeface="Calibri"/>
              </a:defRPr>
            </a:pPr>
            <a:r>
              <a:t>• Shared cooling spine (Section 1) sized for full 10 MW — must complete before DH2 commissioning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2103120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latin typeface="Calibri"/>
              </a:defRPr>
            </a:pPr>
            <a:r>
              <a:t>• 110 kV grid energisation (MS-09, 12 Mar 2027) gates Section 1 TOC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2651760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latin typeface="Calibri"/>
              </a:defRPr>
            </a:pPr>
            <a:r>
              <a:t>• Tenant fit-out access (MS-10, Month 12) overlaps Section 1 commissioning — interface risk R-15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3200400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latin typeface="Calibri"/>
              </a:defRPr>
            </a:pPr>
            <a:r>
              <a:t>• Waste-heat 72h test (MS-17, heating season only Oct–Apr) — miss waits for next season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3749039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latin typeface="Calibri"/>
              </a:defRPr>
            </a:pPr>
            <a:r>
              <a:t>• Permanent car park (Sep–Oct 2027) sits on temporary compound footprint — sequence compound move first (R-04)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4572000"/>
            <a:ext cx="11430000" cy="1828800"/>
          </a:xfrm>
          <a:prstGeom prst="rect">
            <a:avLst/>
          </a:prstGeom>
          <a:solidFill>
            <a:srgbClr val="F5F8FC"/>
          </a:solidFill>
          <a:ln>
            <a:solidFill>
              <a:srgbClr val="1F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6634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 i="0">
                <a:solidFill>
                  <a:srgbClr val="1F4E78"/>
                </a:solidFill>
                <a:latin typeface="Calibri"/>
              </a:defRPr>
            </a:pPr>
            <a:r>
              <a:t>Section 1 is the binding constraint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0292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 i="0">
                <a:solidFill>
                  <a:srgbClr val="606060"/>
                </a:solidFill>
                <a:latin typeface="Calibri"/>
              </a:defRPr>
            </a:pPr>
            <a:r>
              <a:t>Everything the other halls depend on lives in Section 1: the primary substation, the 8 × 2.5 MVA standby generators, the shared cooling spine sized for the full 10 MW, the gatehouse. The L1–L5 commissioning sequence for DH1 (MS-11 L4 integrated systems testing in Month 13; MS-12 L5 24 h load-bank in Month 14) is what closes Section 1 — and Section 1's TOC is what earns the first half of the 5% retention release.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91440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Long-lead procurement — LT-01 is the binding constraint</a:t>
            </a:r>
          </a:p>
          <a:p>
            <a:pPr>
              <a:defRPr sz="1200" i="1">
                <a:solidFill>
                  <a:srgbClr val="CCDDEE"/>
                </a:solidFill>
              </a:defRPr>
            </a:pPr>
            <a:r>
              <a:t>15 long-lead items, one carries NEGATIVE FLOAT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97280"/>
            <a:ext cx="11430000" cy="1463040"/>
          </a:xfrm>
          <a:prstGeom prst="rect">
            <a:avLst/>
          </a:prstGeom>
          <a:solidFill>
            <a:srgbClr val="FFF2CC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 i="0">
                <a:solidFill>
                  <a:srgbClr val="C00000"/>
                </a:solidFill>
                <a:latin typeface="Calibri"/>
              </a:defRPr>
            </a:pPr>
            <a:r>
              <a:t>⚠ LT-01 — 110/20 kV transformers (2 nr, 16 MVA) — 52-week lead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 i="0">
                <a:solidFill>
                  <a:srgbClr val="1F4E78"/>
                </a:solidFill>
                <a:latin typeface="Calibri"/>
              </a:defRPr>
            </a:pPr>
            <a:r>
              <a:t>Need on site 15 Jan 2027    ·    Order by 16 Jan 2026    ·    Float −6.4 weeks    ·    TP-006 (Electrical)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 i="0">
                <a:solidFill>
                  <a:srgbClr val="C00000"/>
                </a:solidFill>
                <a:latin typeface="Calibri"/>
              </a:defRPr>
            </a:pPr>
            <a:r>
              <a:t>Order date is BEFORE the Commencement Date (2 Mar 2026). Without a pre-Commencement order under letter of intent, or a formal advance procurement instruction, Section 1 (TfC 2 May 2027) cannot be achieved.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7432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 i="0">
                <a:solidFill>
                  <a:srgbClr val="1F4E78"/>
                </a:solidFill>
                <a:latin typeface="Calibri"/>
              </a:defRPr>
            </a:pPr>
            <a:r>
              <a:t>Other long-lead items (float in weeks)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3200400"/>
          <a:ext cx="114300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914400"/>
                <a:gridCol w="7772400"/>
                <a:gridCol w="1828800"/>
              </a:tblGrid>
              <a:tr h="32004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Ref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Package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Equipment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Float (wks)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LT-02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TP-006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20 kV switchgear + protection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9800"/>
                          </a:solidFill>
                        </a:defRPr>
                      </a:pPr>
                      <a:r>
                        <a:t>+9.6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LT-03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TP-006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Standby generators (8 × 2.5 MVA)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9800"/>
                          </a:solidFill>
                        </a:defRPr>
                      </a:pPr>
                      <a:r>
                        <a:t>+9.6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LT-04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TP-006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UPS modules (16 × 1000 kVA)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+21.6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LT-07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TP-005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Chillers (4 nr)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+22.6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LT-08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TP-005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Dry coolers / adiabatic (10 nr)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+28.6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LT-09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TP-005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CRAH units (28 nr)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+32.6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LT-10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TP-005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Waste-heat recovery plant (4 MW)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+30.6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LT-11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TP-002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Structural steel fabrication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9800"/>
                          </a:solidFill>
                        </a:defRPr>
                      </a:pPr>
                      <a:r>
                        <a:t>+5.6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LT-15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TP-007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Suppression system (data halls)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+35.6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91440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Cash flow — base case needs NO working-capital facility</a:t>
            </a:r>
          </a:p>
          <a:p>
            <a:pPr>
              <a:defRPr sz="1200" i="1">
                <a:solidFill>
                  <a:srgbClr val="CCDDEE"/>
                </a:solidFill>
              </a:defRPr>
            </a:pPr>
            <a:r>
              <a:t>Same chart as in the workbook (Cash Flow sheet)</a:t>
            </a:r>
          </a:p>
        </p:txBody>
      </p:sp>
      <p:pic>
        <p:nvPicPr>
          <p:cNvPr id="3" name="Picture 2" descr="cashflow_chart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05840"/>
            <a:ext cx="11430000" cy="608610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576072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 i="1">
                <a:solidFill>
                  <a:srgbClr val="606060"/>
                </a:solidFill>
                <a:latin typeface="Calibri"/>
              </a:defRPr>
            </a:pPr>
            <a:r>
              <a:t>Headline: base case (45d in / 45d out, advance paid at Commencement per PC RevC SP-11) requires NO working-capital facility. Minimum cash buffer +€4.26M SURPLUS in May 2027 — the cumulative net stays positive throughout the build. End-of-project net position +€4.81M; peak monthly cash-out €24.18M in November 2026.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91440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Sensitivity — back-to-back IS the facility case</a:t>
            </a:r>
          </a:p>
          <a:p>
            <a:pPr>
              <a:defRPr sz="1200" i="1">
                <a:solidFill>
                  <a:srgbClr val="CCDDEE"/>
                </a:solidFill>
              </a:defRPr>
            </a:pPr>
            <a:r>
              <a:t>45/30 scenario: working-capital line required</a:t>
            </a:r>
          </a:p>
        </p:txBody>
      </p:sp>
      <p:pic>
        <p:nvPicPr>
          <p:cNvPr id="3" name="Picture 2" descr="sensitivity_chart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0"/>
            <a:ext cx="11430000" cy="971879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576072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1">
                <a:solidFill>
                  <a:srgbClr val="606060"/>
                </a:solidFill>
                <a:latin typeface="Calibri"/>
              </a:defRPr>
            </a:pPr>
            <a:r>
              <a:t>BASE (45/45): minimum buffer +€4.26M in May 2027 — NO facility required.   SLOW-PAYER (45/75): same profile.   BACK-TO-BACK (45/30): facility required −€16.58M in DECEMBER 2026 — a working-capital line of ~€17–18M would be needed if subs press for shorter payment terms.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91440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Reconciliation — BOQ €92.4M vs cost loading €82.97M</a:t>
            </a:r>
          </a:p>
          <a:p>
            <a:pPr>
              <a:defRPr sz="1200" i="1">
                <a:solidFill>
                  <a:srgbClr val="CCDDEE"/>
                </a:solidFill>
              </a:defRPr>
            </a:pPr>
            <a:r>
              <a:t>€9.43M gap is a structural shift, not a missing line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097280"/>
          <a:ext cx="68580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2743200"/>
                <a:gridCol w="1188720"/>
                <a:gridCol w="1188720"/>
                <a:gridCol w="1280160"/>
              </a:tblGrid>
              <a:tr h="419100"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§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Description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Cost Load €M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BOQ €M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Diff €M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Preliminaries &amp; General Requirements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6.0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C00000"/>
                          </a:solidFill>
                        </a:defRPr>
                      </a:pPr>
                      <a:r>
                        <a:t>+3.5</a:t>
                      </a:r>
                    </a:p>
                  </a:txBody>
                  <a:tcPr/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Earthworks, Blasting, Piling &amp; Substructure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9.4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6.5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F4E78"/>
                          </a:solidFill>
                        </a:defRPr>
                      </a:pPr>
                      <a:r>
                        <a:t>-2.9</a:t>
                      </a:r>
                    </a:p>
                  </a:txBody>
                  <a:tcPr/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Structure — Structural Steel &amp; Precast Concre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7.3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8.8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C00000"/>
                          </a:solidFill>
                        </a:defRPr>
                      </a:pPr>
                      <a:r>
                        <a:t>+1.5</a:t>
                      </a:r>
                    </a:p>
                  </a:txBody>
                  <a:tcPr/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Envelope — Cladding, Roofing &amp; Louvres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5.6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5.5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-0.1</a:t>
                      </a:r>
                    </a:p>
                  </a:txBody>
                  <a:tcPr/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Architectural Finishes &amp; Data Hall Containmen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4.2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4.6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+0.4</a:t>
                      </a:r>
                    </a:p>
                  </a:txBody>
                  <a:tcPr/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Mechanical — Chillers, Dry Coolers, CRAH &amp; 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30.2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22.2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F4E78"/>
                          </a:solidFill>
                        </a:defRPr>
                      </a:pPr>
                      <a:r>
                        <a:t>-8.0</a:t>
                      </a:r>
                    </a:p>
                  </a:txBody>
                  <a:tcPr/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Electrical — HV/MV, Transformers, UPS &amp; Gener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10.7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27.7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C00000"/>
                          </a:solidFill>
                        </a:defRPr>
                      </a:pPr>
                      <a:r>
                        <a:t>+17.0</a:t>
                      </a:r>
                    </a:p>
                  </a:txBody>
                  <a:tcPr/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ELV, BMS/DCIM, Fire Detection &amp; Suppression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5.1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C00000"/>
                          </a:solidFill>
                        </a:defRPr>
                      </a:pPr>
                      <a:r>
                        <a:t>+2.5</a:t>
                      </a:r>
                    </a:p>
                  </a:txBody>
                  <a:tcPr/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External Works, Security &amp; Fibre Entry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3.7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C00000"/>
                          </a:solidFill>
                        </a:defRPr>
                      </a:pPr>
                      <a:r>
                        <a:t>+1.4</a:t>
                      </a:r>
                    </a:p>
                  </a:txBody>
                  <a:tcPr/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J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Commissioning &amp; Handover (L1-L5)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8.2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F4E78"/>
                          </a:solidFill>
                        </a:defRPr>
                      </a:pPr>
                      <a:r>
                        <a:t>-5.9</a:t>
                      </a:r>
                    </a:p>
                  </a:txBody>
                  <a:tcPr/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900" b="1"/>
                      </a:pPr>
                    </a:p>
                  </a:txBody>
                  <a:tcPr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82.97</a:t>
                      </a:r>
                    </a:p>
                  </a:txBody>
                  <a:tcPr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92.40</a:t>
                      </a:r>
                    </a:p>
                  </a:txBody>
                  <a:tcPr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+9.43</a:t>
                      </a:r>
                    </a:p>
                  </a:txBody>
                  <a:tcPr>
                    <a:solidFill>
                      <a:srgbClr val="FFE699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498079" y="10972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 i="0">
                <a:solidFill>
                  <a:srgbClr val="1F4E78"/>
                </a:solidFill>
                <a:latin typeface="Calibri"/>
              </a:defRPr>
            </a:pPr>
            <a:r>
              <a:t>Why the gap exists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79" y="1554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latin typeface="Calibri"/>
              </a:defRPr>
            </a:pPr>
            <a:r>
              <a:t>• Cost loading is a labour + install view (Resource Groups are crews).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20116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latin typeface="Calibri"/>
              </a:defRPr>
            </a:pPr>
            <a:r>
              <a:t>• BOQ is a supply + install view — full equipment prices in F, G, 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9" y="256032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latin typeface="Calibri"/>
              </a:defRPr>
            </a:pPr>
            <a:r>
              <a:t>• Section G: BOQ carries €17.0M of equipment supply (transformers, switchgear, generators, UPS, busway) not in cost loading.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329184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latin typeface="Calibri"/>
              </a:defRPr>
            </a:pPr>
            <a:r>
              <a:t>• Section A: BOQ carries insurance, performance bond, statutory supervisors, design/risk allowance (€3.5M).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79" y="402336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latin typeface="Calibri"/>
              </a:defRPr>
            </a:pPr>
            <a:r>
              <a:t>• Offsetting: cost-loaded Mech (F) and Commissioning (J) carry install and L1–L5 labour heavier than BOQ does.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79" y="493776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F4E78"/>
                </a:solidFill>
                <a:latin typeface="Calibri"/>
              </a:defRPr>
            </a:pPr>
            <a:r>
              <a:t>• All 10 sections account for the gap — sums reconcile to €9.43M exactly. Row-level audit in workbook (Audit — Cost Loading sheet).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2179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1">
                <a:solidFill>
                  <a:srgbClr val="606060"/>
                </a:solidFill>
                <a:latin typeface="Calibri"/>
              </a:defRPr>
            </a:pPr>
            <a:r>
              <a:t>For the cash flow: cash-IN uses BOQ; cash-OUT uses cost-loaded timing mapped to BOQ work; the €9.43M gap is implicit in the Advance Procurement line and the prelims.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91440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Risk summary — top 7 by residual score (16 risks in workbook)</a:t>
            </a:r>
          </a:p>
          <a:p>
            <a:pPr>
              <a:defRPr sz="1200" i="1">
                <a:solidFill>
                  <a:srgbClr val="CCDDEE"/>
                </a:solidFill>
              </a:defRPr>
            </a:pPr>
            <a:r>
              <a:t>Includes R-16 (commencement-date conflict) and R-08 (back-to-back facility)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097280"/>
          <a:ext cx="1143000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5029200"/>
                <a:gridCol w="1097280"/>
                <a:gridCol w="2286000"/>
                <a:gridCol w="2286000"/>
              </a:tblGrid>
              <a:tr h="59436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Risk ID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Risk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R-Score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Owner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R-01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LT-01 transformers, −6.4 wks float; Section 1 at risk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C00000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PM + Procurement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00000"/>
                          </a:solidFill>
                        </a:defRPr>
                      </a:pPr>
                      <a:r>
                        <a:t>Active — board approval required</a:t>
                      </a:r>
                    </a:p>
                  </a:txBody>
                  <a:tcPr/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R-05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Grid energisation MS-09 (12 Mar 2027) gates Section 1 TOC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C00000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PM + Engineering Mgr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00000"/>
                          </a:solidFill>
                        </a:defRPr>
                      </a:pPr>
                      <a:r>
                        <a:t>Active — DNO engagement</a:t>
                      </a:r>
                    </a:p>
                  </a:txBody>
                  <a:tcPr/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R-03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110 kV overhead line — DNO consent before substation precast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9800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Engineering Manager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00000"/>
                          </a:solidFill>
                        </a:defRPr>
                      </a:pPr>
                      <a:r>
                        <a:t>Active — submit early</a:t>
                      </a:r>
                    </a:p>
                  </a:txBody>
                  <a:tcPr/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R-06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Rock blasting — vibration, neighbour, archaeology trigger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9800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Site Manager + H&amp;S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Mitigated</a:t>
                      </a:r>
                    </a:p>
                  </a:txBody>
                  <a:tcPr/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R-15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Tenant acceptance dependencies on Sectional Completion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9800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PM + Commercial Mgr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00000"/>
                          </a:solidFill>
                        </a:defRPr>
                      </a:pPr>
                      <a:r>
                        <a:t>Active — engage</a:t>
                      </a:r>
                    </a:p>
                  </a:txBody>
                  <a:tcPr/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R-07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Subcontract back-to-back risk — 7 packages not yet let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9800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Commercial Manager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00000"/>
                          </a:solidFill>
                        </a:defRPr>
                      </a:pPr>
                      <a:r>
                        <a:t>Active — standardise</a:t>
                      </a:r>
                    </a:p>
                  </a:txBody>
                  <a:tcPr/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R-16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Commencement-date conflict (PC 2 Mar vs baseline 1 Mar)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PM + Planner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00000"/>
                          </a:solidFill>
                        </a:defRPr>
                      </a:pPr>
                      <a:r>
                        <a:t>Active — align baseline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65760" y="60350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1">
                <a:solidFill>
                  <a:srgbClr val="606060"/>
                </a:solidFill>
                <a:latin typeface="Calibri"/>
              </a:defRPr>
            </a:pPr>
            <a:r>
              <a:t>Score = L × I (1–5 each). Residual after mitigation.  Full register: 16 risks, scored and owned, in workbook Risk Register sheet.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91440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Asks of the board</a:t>
            </a:r>
          </a:p>
          <a:p>
            <a:pPr>
              <a:defRPr sz="1200" i="1">
                <a:solidFill>
                  <a:srgbClr val="CCDDEE"/>
                </a:solidFill>
              </a:defRPr>
            </a:pPr>
            <a:r>
              <a:t>Three decisions for mobilisation approval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97280"/>
            <a:ext cx="11430000" cy="1554480"/>
          </a:xfrm>
          <a:prstGeom prst="rect">
            <a:avLst/>
          </a:prstGeom>
          <a:solidFill>
            <a:srgbClr val="F5F8FC"/>
          </a:solidFill>
          <a:ln>
            <a:solidFill>
              <a:srgbClr val="1F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731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 i="0">
                <a:solidFill>
                  <a:srgbClr val="1F4E78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188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 i="0">
                <a:solidFill>
                  <a:srgbClr val="1F4E78"/>
                </a:solidFill>
                <a:latin typeface="Calibri"/>
              </a:defRPr>
            </a:pPr>
            <a:r>
              <a:t>Pre-Commencement procurement of LT-01 transformers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6459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 i="0">
                <a:solidFill>
                  <a:srgbClr val="606060"/>
                </a:solidFill>
                <a:latin typeface="Calibri"/>
              </a:defRPr>
            </a:pPr>
            <a:r>
              <a:t>Issue letter of intent / advance procurement instruction within 7 days so the order is placed on the 16 January 2026 cut-off.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21945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 i="1">
                <a:solidFill>
                  <a:srgbClr val="C00000"/>
                </a:solidFill>
                <a:latin typeface="Calibri"/>
              </a:defRPr>
            </a:pPr>
            <a:r>
              <a:t>Critical: without this, Section 1 (TfC 2 May 2027) is unachievable. LD exposure €18k/day from that date.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834639"/>
            <a:ext cx="11430000" cy="1554480"/>
          </a:xfrm>
          <a:prstGeom prst="rect">
            <a:avLst/>
          </a:prstGeom>
          <a:solidFill>
            <a:srgbClr val="F5F8FC"/>
          </a:solidFill>
          <a:ln>
            <a:solidFill>
              <a:srgbClr val="1F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926079"/>
            <a:ext cx="731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 i="0">
                <a:solidFill>
                  <a:srgbClr val="1F4E78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926079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 i="0">
                <a:solidFill>
                  <a:srgbClr val="1F4E78"/>
                </a:solidFill>
                <a:latin typeface="Calibri"/>
              </a:defRPr>
            </a:pPr>
            <a:r>
              <a:t>Endorse the sectional completion framework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383279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 i="0">
                <a:solidFill>
                  <a:srgbClr val="606060"/>
                </a:solidFill>
                <a:latin typeface="Calibri"/>
              </a:defRPr>
            </a:pPr>
            <a:r>
              <a:t>Confirm the four TfCs (14/16/19/22 months from 2 March 2026) as the delivery thesis, with sectional LD rates and 10% aggregate cap.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3931919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 i="1">
                <a:solidFill>
                  <a:srgbClr val="1F4E78"/>
                </a:solidFill>
                <a:latin typeface="Calibri"/>
              </a:defRPr>
            </a:pPr>
            <a:r>
              <a:t>Aligns contractual structure with the cash flow, the risk register, and the procurement plan. No contract change required.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4572000"/>
            <a:ext cx="11430000" cy="1554480"/>
          </a:xfrm>
          <a:prstGeom prst="rect">
            <a:avLst/>
          </a:prstGeom>
          <a:solidFill>
            <a:srgbClr val="F5F8FC"/>
          </a:solidFill>
          <a:ln>
            <a:solidFill>
              <a:srgbClr val="1F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4663440"/>
            <a:ext cx="731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 i="0">
                <a:solidFill>
                  <a:srgbClr val="1F4E78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46634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 i="0">
                <a:solidFill>
                  <a:srgbClr val="1F4E78"/>
                </a:solidFill>
                <a:latin typeface="Calibri"/>
              </a:defRPr>
            </a:pPr>
            <a:r>
              <a:t>Approve advance payment + performance security execution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51206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 i="0">
                <a:solidFill>
                  <a:srgbClr val="606060"/>
                </a:solidFill>
                <a:latin typeface="Calibri"/>
              </a:defRPr>
            </a:pPr>
            <a:r>
              <a:t>Release the 10% advance payment (€9.24M) at Commencement against advance payment guarantee; issue the 10% on-demand bank guarantee for performance security.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5669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 i="1">
                <a:solidFill>
                  <a:srgbClr val="1F4E78"/>
                </a:solidFill>
                <a:latin typeface="Calibri"/>
              </a:defRPr>
            </a:pPr>
            <a:r>
              <a:t>Both are per PC RevC SP-11 and Part A Item 4.2. Without these, mobilisation cannot start.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