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4E78"/>
                </a:solidFill>
              </a:rPr>
              <a:t>Cumulative EUR - PV baseline vs AC actual vs EV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 (baseline)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  <c:pt idx="3">
                  <c:v>Jun-26</c:v>
                </c:pt>
                <c:pt idx="4">
                  <c:v>Jul-26</c:v>
                </c:pt>
                <c:pt idx="5">
                  <c:v>Aug-26</c:v>
                </c:pt>
                <c:pt idx="6">
                  <c:v>Sep-26</c:v>
                </c:pt>
                <c:pt idx="7">
                  <c:v>Oct-26</c:v>
                </c:pt>
                <c:pt idx="8">
                  <c:v>Nov-26</c:v>
                </c:pt>
                <c:pt idx="9">
                  <c:v>Dec-26</c:v>
                </c:pt>
                <c:pt idx="10">
                  <c:v>Jan-27</c:v>
                </c:pt>
                <c:pt idx="11">
                  <c:v>Feb-27</c:v>
                </c:pt>
                <c:pt idx="12">
                  <c:v>Mar-27</c:v>
                </c:pt>
                <c:pt idx="13">
                  <c:v>Apr-27</c:v>
                </c:pt>
                <c:pt idx="14">
                  <c:v>May-27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462000</c:v>
                </c:pt>
                <c:pt idx="1">
                  <c:v>924000</c:v>
                </c:pt>
                <c:pt idx="2">
                  <c:v>1663200</c:v>
                </c:pt>
                <c:pt idx="3">
                  <c:v>2402400</c:v>
                </c:pt>
                <c:pt idx="4">
                  <c:v>3326400</c:v>
                </c:pt>
                <c:pt idx="5">
                  <c:v>5082000</c:v>
                </c:pt>
                <c:pt idx="6">
                  <c:v>7392000</c:v>
                </c:pt>
                <c:pt idx="7">
                  <c:v>10164000</c:v>
                </c:pt>
                <c:pt idx="8">
                  <c:v>13860000</c:v>
                </c:pt>
                <c:pt idx="9">
                  <c:v>20328000</c:v>
                </c:pt>
                <c:pt idx="10">
                  <c:v>29568000</c:v>
                </c:pt>
                <c:pt idx="11">
                  <c:v>41580000</c:v>
                </c:pt>
                <c:pt idx="12">
                  <c:v>57288000</c:v>
                </c:pt>
                <c:pt idx="13">
                  <c:v>75768000</c:v>
                </c:pt>
                <c:pt idx="14">
                  <c:v>92400000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 (actual)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  <c:pt idx="3">
                  <c:v>Jun-26</c:v>
                </c:pt>
                <c:pt idx="4">
                  <c:v>Jul-26</c:v>
                </c:pt>
                <c:pt idx="5">
                  <c:v>Aug-26</c:v>
                </c:pt>
                <c:pt idx="6">
                  <c:v>Sep-26</c:v>
                </c:pt>
                <c:pt idx="7">
                  <c:v>Oct-26</c:v>
                </c:pt>
                <c:pt idx="8">
                  <c:v>Nov-26</c:v>
                </c:pt>
                <c:pt idx="9">
                  <c:v>Dec-26</c:v>
                </c:pt>
                <c:pt idx="10">
                  <c:v>Jan-27</c:v>
                </c:pt>
                <c:pt idx="11">
                  <c:v>Feb-27</c:v>
                </c:pt>
                <c:pt idx="12">
                  <c:v>Mar-27</c:v>
                </c:pt>
                <c:pt idx="13">
                  <c:v>Apr-27</c:v>
                </c:pt>
                <c:pt idx="14">
                  <c:v>May-27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250000</c:v>
                </c:pt>
                <c:pt idx="1">
                  <c:v>550000</c:v>
                </c:pt>
                <c:pt idx="2">
                  <c:v>900000</c:v>
                </c:pt>
                <c:pt idx="3">
                  <c:v>1600000</c:v>
                </c:pt>
                <c:pt idx="4">
                  <c:v>3770000</c:v>
                </c:pt>
                <c:pt idx="5">
                  <c:v>5559300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 (actual / indicative)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  <c:pt idx="3">
                  <c:v>Jun-26</c:v>
                </c:pt>
                <c:pt idx="4">
                  <c:v>Jul-26</c:v>
                </c:pt>
                <c:pt idx="5">
                  <c:v>Aug-26</c:v>
                </c:pt>
                <c:pt idx="6">
                  <c:v>Sep-26</c:v>
                </c:pt>
                <c:pt idx="7">
                  <c:v>Oct-26</c:v>
                </c:pt>
                <c:pt idx="8">
                  <c:v>Nov-26</c:v>
                </c:pt>
                <c:pt idx="9">
                  <c:v>Dec-26</c:v>
                </c:pt>
                <c:pt idx="10">
                  <c:v>Jan-27</c:v>
                </c:pt>
                <c:pt idx="11">
                  <c:v>Feb-27</c:v>
                </c:pt>
                <c:pt idx="12">
                  <c:v>Mar-27</c:v>
                </c:pt>
                <c:pt idx="13">
                  <c:v>Apr-27</c:v>
                </c:pt>
                <c:pt idx="14">
                  <c:v>May-27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200000</c:v>
                </c:pt>
                <c:pt idx="1">
                  <c:v>480000</c:v>
                </c:pt>
                <c:pt idx="2">
                  <c:v>820000</c:v>
                </c:pt>
                <c:pt idx="3">
                  <c:v>1400000</c:v>
                </c:pt>
                <c:pt idx="4">
                  <c:v>3236387</c:v>
                </c:pt>
                <c:pt idx="5">
                  <c:v>5246973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Polaris DC-1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Period 06 Board Update - Rev1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D9E1F2"/>
                </a:solidFill>
              </a:rPr>
              <a:t>Period 06 - August 2026 - Data date 31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D9E1F2"/>
                </a:solidFill>
              </a:rPr>
              <a:t>Issued 09 September 2026 - PDC-PR-006 Rev1 (supersedes Rev0)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D9E1F2"/>
                </a:solidFill>
              </a:rPr>
              <a:t>Synthetic demonstration data - not a real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Three P05 watch items crystallised in P06. The 110 kV to Section 1 dates do not 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What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110 kV grid energisation slipped to 24.04.2027 (was 12.03.2027). 43 calendar days. (PDC-LTR-PMC-014, 28.08.2026)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DH1 piling now at 85% (58/68). Activity 50 forecast 11.09.2026 - 17 cd slip, float nil. (PDC-MIN-P06 section 3.2)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DH2 waterproofing: bay-level physical dispute (W1/W2 complete, W3 coat 1, W4 not started). No BOQ-derived quantum.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NW corner made-ground instruction issued (PDC-EI-004). EUR 138,400 incurred. No rate agreed; Kallio cost submission in preparation.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LT-04 UPS procurement milestone closed on time (28.07.2026). Float preserved.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R-09 parking compound raised in three consecutive returns - blocker on 5% of Act 200.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Headline 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813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AC P06 cumulative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4813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EUR 5,559,300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14813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PDC-CVR-P06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83664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019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Incurred in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9019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EUR 1,789,300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9019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PDC-CVR-P06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304288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BAC (P05 baseline)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32257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EUR 92,400,000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23225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P05 workbook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724912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P06 SPI / CPI (indicative)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7432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1.03 / 0.94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27432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derived; flagged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145536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16382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110 kV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16382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24.04.2027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316382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PDC-LTR-PMC-014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566160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5844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Section 1 Taking 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5844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02.05.2027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5844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PDC-MS-001 MS-14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86784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00507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Calendar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005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8 days (~ 6 wd)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400507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does NOT fit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407408"/>
            <a:ext cx="5486400" cy="384048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42569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Delay damages if missed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256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EUR 18,000/day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42569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</a:rPr>
              <a:t>PDC-MS-001 MS-14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PDC-CVR-P06 - PDC-LTR-PMC-014 - PDC-MIN-P06 section 3.2 - PDC-EI-004 - PDC-MS-001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P06 cost ledger - Actual Cost incurred to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Source: PDC-CVR-P06. Cost ledger only - no contractual EV extract in P06 source set.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5715000"/>
                <a:gridCol w="2571750"/>
                <a:gridCol w="17145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Cost code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P06 cumulative (EUR)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% of total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Preliminaries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848,500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15.3%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C-1100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TP-001 Earthworks, blasting, piling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2,091,000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37.6%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C-1140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of which: NW zone (PDC-EI-004)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138,400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TP-001 Substructure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603,500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C-1300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TP-005 Mechanical cooling spine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508,700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9.2%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C-1400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TP-006 Electrical HV enabling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275,500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TP-008 External works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695,200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C-1900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Design, statutory, prof fees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398,500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7.2%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All cost codes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5,559,300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MEMO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P05 cumulative AC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3,770,000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MEMO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Incurred in P06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1,789,300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949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AC incurred to date EUR 5,559,300 - up EUR 1,789,300 in the period. Largest cost code is C-1100 TP-001 Earthworks, blasting &amp; piling (37.6% of total). The NW corner instruction (PDC-EI-004) has incurred EUR 138,400 within C-1100 (C-1140); the BOQ provisional B.04 is EUR 102,762.98 and NO rate has been agreed (PDC-MIN-P06 section 6; PDC-PROG-001-P06 N-09).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Source: PDC-CVR-P06_Cost_Value_Reconciliation_to_31Aug2026.xlsx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EVM - P05 baseline and P06 indicative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P06 PV / EV / SPI / CPI / EAC / VAC are INDICATIVE - derived from governed physical % x BOQ line value.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057400"/>
                <a:gridCol w="5257800"/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P05 (31.07.2026)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P06 (31.08.2026)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/ method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BAC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92,400,000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92,400,000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P05 workbook; PDC-BOQ-001 Rev 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PV (cumulative)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3,302,068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5,082,000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P05 workbook (P05 PV); P06 PV = baseline profile at 31.08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EV (cumulative, governed)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3,236,387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INDICATIVE: 5,247,000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P05 actual. P06 derived from Sections B/F/I x BOQ + 40% on prelims/design/HV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AC (cumulative, incurred)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3,770,000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5,559,300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PDC-CVR-P06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SPI = EV / PV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0.98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INDICATIVE: 1.03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Derived from P06 indicative EV and P06 PV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CPI = EV / AC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0.86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INDICATIVE: 0.94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Derived from P06 indicative EV and P06 AC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EAC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92,400,000 (PM manual)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INDICATIVE: 97,900,000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P06 indicative = BAC / CPI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VAC (BAC - EAC)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INDICATIVE: -5,500,000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Derived</a:t>
                      </a:r>
                    </a:p>
                  </a:txBody>
                  <a:tcPr marL="45720" marR="45720" marT="18288" marB="18288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Why indicative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P05 baseline figures (BAC, PV, EV, SPI, CPI, EAC) are actual from the P05 workbook. P06 figures are an indicative derivation - physical % x BOQ line value - NOT a contractual EV extract. The P06 SPI will diverge once the 110 kV slip is rebaselined into Section 1 commissioning (see slide 6). The P06 CPI of 0.94 means AC is running ~6% above physical progress; the indicative EAC of EUR 97.9m is ~EUR 5.5m above BAC.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P05 workbook - PDC-CVR-P06 - PDC-BOQ-001 Rev A - PDC-LAB-P06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S-curve - cumulative PV / AC / EV (EUR)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Baseline PV anchored to P05 PV at 31.07.2026. ACTUAL AC and EV where sourced; indicative where derived.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097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320040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PV (baseline). Anchored to P05 PV EUR 3,302,068 at 31.07 (P05 workbook) and reaching BAC EUR 92,400,000 at end May-27. Earlier months estimated from P05 prelims narrative.
AC (actual). P05 cum EUR 3,770,000 and P06 cum EUR 5,559,300 (PDC-CVR-P06). AC running ~9% ahead of PV at month 6 (EUR 5,559k vs EUR 5,082k).
EV (actual / indicative). P05 cum EUR 3,236,387 (P05 workbook). P06 cum EUR 5,247,000 (indicative - derived). EV ~ PV at month 6 (SPI 1.03 indicative).
What it tells you. Running ~on plan in physical terms (SPI ~ 1) but ~6% over cost (CPI 0.94). The 110 kV slip will pull PV down from Q2 2027 once Section 1 commissioning rebaselines.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PDC-CVR-P06 (AC) - P05 workbook (PV Jul-26, EV Jul-26) - PDC-LAB-P06 - PDC-BOQ-001 Rev A (EV derivation)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110 kV vs Section 1 - the dates do not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8 calendar days between 110 kV energisation and Section 1 Taking Over is insufficient for the L4/L5 commissioning sequence.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4820"/>
                <a:gridCol w="1554480"/>
                <a:gridCol w="19431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Event / milestone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110 kV grid energisation (revised, firm)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24.04.2027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PDC-LTR-PMC-014 section 1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Section 1 L4 integrated systems testing (requires energisation)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Month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PDC-MS-001 MS-11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Section 1 L5 24 h load-bank test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Month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PDC-MS-001 MS-12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Section 1 occupancy inspection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Month 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PDC-MS-001 MS-13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Section 1 Taking Over (contractual)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02.05.2027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PDC-MS-001 MS-14; PDC-SC-001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Delay damages (Section 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EUR 18,000/day from 03.05.2027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PDC-MS-001 MS-14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Calendar gap 110 kV to Section 1 Taking Over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8 cd (~ 6 wd)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Derived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4E78"/>
                </a:solidFill>
              </a:rPr>
              <a:t>What has to happen between 24.04 and 02.05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1. L1-L3 commissioning of mechanical, electrical, BMS, fire/life-safety systems.
2. L4 integrated systems testing - the whole-building integration test, requires 110 kV energisation.
3. L5 24 h load-bank test - requires integrated systems operational; runs 24 h continuous plus setup/monitoring.
4. Occupancy inspection - fire, building control, employer's snagging.
5. Taking Over - handover certificate issued.
6 wd is not enough for steps 1-5 at this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Section 1 Taking Over on 02.05.2027 cannot be achieved from the firm 110 kV date of 24.04.2027. Delay damages EUR 18,000/day (PDC-MS-001 MS-14) will accrue from 03.05.2027. The contractor is required to advise the consequence within 14 days (PDC-LTR-PMC-014 section 2 - response due 12.09.2026). P07 action: reissue PDC-SCH-001 and PDC-MS-001 to reflect the 110 kV slip, and lodge the EOT notification.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PDC-LTR-PMC-014 - PDC-MS-001 Rev A - PDC-SC-001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Progress by package - sub vs QS site vs governed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Where sub and QS disagree, QS site measure governs (main contract: FIDIC YB Sub-Cl. 14.3 + PDC-PC-001 Rev C).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1143000"/>
                <a:gridCol w="1143000"/>
                <a:gridCol w="1143000"/>
                <a:gridCol w="1485900"/>
                <a:gridCol w="1714500"/>
              </a:tblGrid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P05 cum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P06 sub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P06 QS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Governed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Agree?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Activity 50 - DH1 piling (58/68 design)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60%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Activity 53 - DH2 pile caps &amp; ground beams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Activity 56 - Substructure concrete works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Activity 59 - DH2 foundation waterproofing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55%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55%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Activity 60 - Halls 3-4 pile caps &amp; ground beams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IL-1400 - Cooling Spine pipework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26%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IL-1500 - DH1 chiller installation &amp; piping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I.01 - Access roads (main gate &amp; west apron)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40%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95%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45720" marR="45720" marT="18288" marB="18288">
                    <a:solidFill>
                      <a:srgbClr val="FCE4D6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I.02 - Perimeter fencing &amp; gates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095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I.03 - Landscaping &amp; soft works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Where sub and QS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937760"/>
            <a:ext cx="5669280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Activity 50 - DH1 piling. Kallio 88% (58/68); QS pile log 85% (PDC-MIN-P06 section 3.2). 3% gap is rounding, not substantive. Real issue: forecast completion 11.09.2026 - 17 cd slip, float nil. R-16 (new).
Activity 59 - DH2 waterproofing. Kallio 100% vs QS 55%. Physical status: W1+W2 complete, W3 coat 1, W4 not commenced. No BOQ-derived monetary quantum. Open item A06-02 from PDC-MIN-P06 (due 02.09.2026).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93776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I.01 - Access roads. Lehtinen 95% vs QS 90%. QS site measure governs; sub's 95% includes NE car park blocked by temporary parking compound (R-09).
Note on the basis of valuation. There is no Kallio subcontract in the project files - the Kallio package is at tender (PDC-BID-TP-001-1). Valuation is under the main contract (FIDIC YB Sub-Cl. 14.3 + PDC-PC-001 Rev C), not against any subcontract cl. 6.2.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PDC-PROG-001-P06 - PDC-PROG-005-P06 - PDC-PROG-008-P06 - PDC-LAB-P06 - PDC-MIN-P06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Risk register - movement in 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P05 watch items where the picture has changed; R-16 (DH1 piling slip) is new.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514600"/>
                <a:gridCol w="2514600"/>
                <a:gridCol w="3429000"/>
                <a:gridCol w="22860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Ref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P05 status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P06 status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R-04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NW corner made-ground (DH1 pile grid)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Engineer to instruct W32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Closed - PDC-EI-004 issued 05.08; EUR 138,400 incurred. No rate agreed.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ER / Kallio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R-09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Temporary parking compound relocation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raised in two returns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raised in three returns; blocker on Act 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Main Contractor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R-12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110 kV grid energisation date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revised date expected by end of August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revised date confirmed 24.04.2027; Section 1 02.05.2027 NOT achievable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ER / Vantaan Energia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R-15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DH2 waterproofing disagreement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measurement note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physical bay-level dispute; no BOQ-derived quantum; A06-02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Main Contractor / Kallio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R-16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DH1 piling slip on Activity 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(new in P06)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Open - forecast completion 11.09.2026 (17 cd slip); float nil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663440"/>
            <a:ext cx="1143000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R-04 closed (instruction issued, EUR 138,400 incurred). R-09 hardened to blocker (3 returns). R-12 is the load-bearing item - see slide 6. R-15 is a physical bay-level dispute, not a BOQ-derived monetary dispute; contractor has not yet issued formal notice to Kallio. R-16 is a new 17 cd slip on Activity 50 that consumes the float on the critical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PDC-EI-004 - PDC-PROG-008-P06 - PDC-LTR-PMC-014 - PDC-MIN-P06 - PDC-PROG-001-P06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Look-ahead -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Next 4 weeks. Source dates from PDC-LT-001 Rev A and contractor correspondence.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7086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45720" marR="45720" marT="27432" marB="27432"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W36 (01-07.09)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DH2 waterproofing - Kallio reconciled status and W3/W4 resourcing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110 kV consequence assessment - contractor response due (12.09.2026)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Main Contractor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W37 (08-14.09)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DH1 piling - Activity 50 forecast completion 11.09.2026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Cooling Spine - pipework continuation, target 350 m of 820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W38 (15-21.09)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Perimeter fencing - target 600 m of 980 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LT-13 Acoustic louvres order by 18.09.2026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Procurement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W39 (22-28.09)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LT-08 Dry coolers order by 18.09.2026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Procurement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LT-05 Battery systems order by 25.09.2026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Procurement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W39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DH1 pile cap commencement (Halls 3-4)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</a:rPr>
                        <a:t>TP-001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Procurement - order-by dates in the next 8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9496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LT-08 Dry coolers (TP-005, 22 wk lead) order by 18.09.2026 - 28.6 weeks float. LT-05 Battery systems (TP-006, 24 wk lead) order by 25.09.2026 - 29.6 weeks float. LT-13 Acoustic louvres (TP-003, 16 wk lead) order by 18.09.2026 - 28.6 weeks float. All on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PDC-LT-001 Rev A - PDC-PROG-005-P06 - PDC-PROG-008-P06 - PDC-MIN-P06 - PDC-LTR-PMC-014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Status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Proceeding, with watch on 110 kV consequence assessment and DH2 waterproofing dispute.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8288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Three P05 watch items crystallised into real events this month - the 110 kV date, the NW corner instruction, and DH1 piling acceleration. One procurement milestone was closed on time. R-09 has now been raised in three consecutive returns and is a blocker on the last 5% of Act 200. AC incurred in the period: EUR 1,789,300. The 110 kV date of 24.04.2027 makes Section 1 Taking Over on 02.05.2027 unachievable - see slide 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W36 (12.09) - Issue contractor response to PDC-LTR-PMC-014 on the 110 kV consequence. EOT entitlement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363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W36 - Receive Kallio reconciled status on DH2 waterproofing; assess; close or escalate A06-02.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1104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W36 - Secure a date for relocation of the temporary parking compound to unblock the last 5% of Act 200.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08576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W37 - Activity 50 (DH1 piling) forecast completion 11.09.2026. Monitor against programme 25.08.2026 (R-16).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5604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W37-W39 - Execute next procurement order-by dates (LT-08, LT-05, LT-13) on programme.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P07 - Reissue PDC-SCH-001 and PDC-MS-001 to reflect 110 kV slip; lodge EOT notification; reflect rebaseline in PV profile.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5099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-  P07 - Reissue P06 SPI / CPI / EAC / VAC from the updated baseline programme and reconcile indicative derivation against the Engineer's interim valuation.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</a:rPr>
              <a:t>Sources: PDC-CVR-P06 - PDC-LAB-P06 - PDC-PROG-001-P06 - PDC-PROG-005-P06 - PDC-PROG-008-P06 - PDC-MIN-P06 - PDC-LTR-PMC-014 - PDC-EI-004 - PDC-LT-001 Rev A - PDC-BOQ-001 Rev A - PDC-MS-001 Rev A - PDC-SC-001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</a:rPr>
              <a:t>Polaris DC-1 · P06 ·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