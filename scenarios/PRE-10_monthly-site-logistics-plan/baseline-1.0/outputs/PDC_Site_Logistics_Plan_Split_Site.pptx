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POLARIS DC-1</a:t>
            </a:r>
          </a:p>
          <a:p>
            <a:pPr>
              <a:defRPr sz="3600" b="1">
                <a:solidFill>
                  <a:srgbClr val="E74C3C"/>
                </a:solidFill>
              </a:defRPr>
            </a:pPr>
            <a:r>
              <a:t>SITE LOGISTICS PLAN</a:t>
            </a:r>
          </a:p>
          <a:p>
            <a:pPr>
              <a:defRPr sz="1800">
                <a:solidFill>
                  <a:srgbClr val="AAB4BE"/>
                </a:solidFill>
              </a:defRPr>
            </a:pPr>
            <a:r>
              <a:t>22 Months · Mar 2026 – Dec 2027</a:t>
            </a:r>
          </a:p>
          <a:p>
            <a:pPr>
              <a:defRPr sz="1400">
                <a:solidFill>
                  <a:srgbClr val="96A0AA"/>
                </a:solidFill>
              </a:defRPr>
            </a:pPr>
            <a:r>
              <a:t>Split-Site Format per PDC-LOG-001 §3.1 — 2 sheets per month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78828C"/>
                </a:solidFill>
              </a:defRPr>
            </a:pPr>
            <a:r>
              <a:t>Nordbuild Oy · PDC-LOG-002 Rev 0 · Pre-Start Meeting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 MAR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20 ops · 12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14sps 350m2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31547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 MAR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20 ops · 12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 APR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40 ops · 15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22sps 550m2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31547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0221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1252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31547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 APR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40 ops · 15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M3 MAY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50 ops · 18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26sps 650m2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31547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0221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1252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31547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M3 MAY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50 ops · 18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M4 JUN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65 ops · 20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32sps 800m2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31547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STOCKPILE+PILLING 6300m2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0221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1252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31547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M4 JUN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65 ops · 20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STOCKPILE+PILLING 6300m2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M5 JUL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85 ops · 22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40sps 1000m2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713933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202m2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31547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STOCKPILE+PILLING 6300m2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0221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1252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31547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M5 JUL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85 ops · 22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STOCKPILE+PILLING 6300m2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3296503"/>
            <a:ext cx="185525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M6 AUG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100 ops · 24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523961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46sps 1150m2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131" y="646581"/>
            <a:ext cx="795110" cy="787027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223m2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31547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STOCKPILE+PILLING 6300m2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0221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1105" y="3296503"/>
            <a:ext cx="29154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 STAGING 660m2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66510" y="3296503"/>
            <a:ext cx="2385331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CABLE+SWGR 540m2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M6 AUG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100 ops · 24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296503"/>
            <a:ext cx="11131547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STOCKPILE+PILLING 6300m2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30810" y="3296503"/>
            <a:ext cx="3180442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ENVELOPE MOB. 720m2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265036" y="3296503"/>
            <a:ext cx="2385331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CABLE+SWGR 540m2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M7 SEP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130 ops · 26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921517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58sps 1450m2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0686" y="646581"/>
            <a:ext cx="795110" cy="897882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254m2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0663" y="3296503"/>
            <a:ext cx="3180442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720m2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1105" y="3296503"/>
            <a:ext cx="29154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 STAGING 660m2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66510" y="3296503"/>
            <a:ext cx="2385331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CABLE+SWGR 540m2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307877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7877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M7 SEP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130 ops · 26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0368" y="3296503"/>
            <a:ext cx="8481179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4800m2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0589" y="3296503"/>
            <a:ext cx="4770663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CLADDING 1080m2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265036" y="3296503"/>
            <a:ext cx="2385331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CABLE+SWGR 540m2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M8 OCT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155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2252813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68sps 1700m2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1982" y="646581"/>
            <a:ext cx="795110" cy="997916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282m2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0663" y="3296503"/>
            <a:ext cx="3180442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720m2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1179" y="5257446"/>
            <a:ext cx="3180442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FLOORS 660m2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1031" y="5257446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61621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07877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7877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M8 OCT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155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0368" y="3296503"/>
            <a:ext cx="8481179" cy="1589953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4800m2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0589" y="3296503"/>
            <a:ext cx="4770663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CLADDING 1080m2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2650368" y="5257446"/>
            <a:ext cx="3180442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FLOORS 660m2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3710515" y="5257446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073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-53007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-53007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M9 NOV 2026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180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2584109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78sps 1950m2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278" y="646581"/>
            <a:ext cx="795110" cy="1057319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299m2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110" y="3296503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STEEL+PRECAST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0810" y="5257446"/>
            <a:ext cx="742103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1031" y="5257446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61621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110" y="5257446"/>
            <a:ext cx="2120294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537213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7213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3" name="Oval 32"/>
          <p:cNvSpPr/>
          <p:nvPr/>
        </p:nvSpPr>
        <p:spPr>
          <a:xfrm>
            <a:off x="10495459" y="169595"/>
            <a:ext cx="2332324" cy="2332324"/>
          </a:xfrm>
          <a:prstGeom prst="ellipse">
            <a:avLst/>
          </a:prstGeom>
          <a:noFill/>
          <a:ln w="16510">
            <a:solidFill>
              <a:srgbClr val="F39C1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95459" y="5003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F39C12"/>
                </a:solidFill>
              </a:defRPr>
            </a:pPr>
            <a:r>
              <a:t>GEN CRANE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M9 NOV 2026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180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0589" y="3296503"/>
            <a:ext cx="4770663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CLADDING 1080m2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5300737" y="5257446"/>
            <a:ext cx="742103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710515" y="5257446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073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717655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7655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M10 DEC 2026 — WEST (0–210m)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210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298166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90sps 2250m2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0834" y="646581"/>
            <a:ext cx="795110" cy="1130192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320m2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110" y="3296503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STEEL+PRECAST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0810" y="5257446"/>
            <a:ext cx="742103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1031" y="5257446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61621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110" y="5257446"/>
            <a:ext cx="159022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EXT.MATS 330m2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07877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7877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3" name="Oval 32"/>
          <p:cNvSpPr/>
          <p:nvPr/>
        </p:nvSpPr>
        <p:spPr>
          <a:xfrm>
            <a:off x="10495459" y="169595"/>
            <a:ext cx="2332324" cy="2332324"/>
          </a:xfrm>
          <a:prstGeom prst="ellipse">
            <a:avLst/>
          </a:prstGeom>
          <a:noFill/>
          <a:ln w="16510">
            <a:solidFill>
              <a:srgbClr val="F39C1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95459" y="5003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F39C12"/>
                </a:solidFill>
              </a:defRPr>
            </a:pPr>
            <a:r>
              <a:t>GEN CRANE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M10 DEC 2026 — EAST (210–420m)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210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0442" y="3296503"/>
            <a:ext cx="5830810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CLADDING+ROOF 1320m2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5300737" y="5257446"/>
            <a:ext cx="742103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3710515" y="5257446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073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1179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ELV+BMS 600m2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-53007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-53007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M11 JAN 2027 — WEST (0–210m)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230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3246701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98sps 2450m2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5870" y="646581"/>
            <a:ext cx="795110" cy="1178773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334m2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110" y="3296503"/>
            <a:ext cx="4240589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STEEL+PRECAST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0810" y="5257446"/>
            <a:ext cx="742103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110" y="5257446"/>
            <a:ext cx="530073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CRAH+PIPE 1200m2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110" y="5257446"/>
            <a:ext cx="159022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EXT.MATS 330m2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537213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7213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M11 JAN 2027 — EAST (210–420m)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230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0442" y="3296503"/>
            <a:ext cx="5830810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CLADDING+ROOF 1320m2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5300737" y="5257446"/>
            <a:ext cx="742103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0294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DIST+BUSWAY 840m2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0958" y="3296503"/>
            <a:ext cx="29154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ELV+BMS 660m2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71400" y="3296503"/>
            <a:ext cx="954132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CYLINDERS 216m2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717655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7655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M12 FEB 2027 — WEST (0–210m)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250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3511738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106sps 2650m2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0907" y="646581"/>
            <a:ext cx="795110" cy="1227355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347m2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0221" y="3296503"/>
            <a:ext cx="2120294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STEEL RESIDUAL 480m2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1179" y="5257446"/>
            <a:ext cx="4240589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MOVING INDOORS 880m2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110" y="5257446"/>
            <a:ext cx="530073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CRAH+PIPE 1200m2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110" y="5257446"/>
            <a:ext cx="1590221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EXT.MATS 330m2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M12 FEB 2027 — EAST (210–420m)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250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110kV DNO permission for crane | Mast-climber 3.0m clearance (§7)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0442" y="3296503"/>
            <a:ext cx="5830810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CLADDING+ROOF 1320m2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2650368" y="5257446"/>
            <a:ext cx="4240589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MOVING INDOORS 880m2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0294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DIST+BUSWAY 840m2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0958" y="3296503"/>
            <a:ext cx="29154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ELV+BMS 660m2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71400" y="3296503"/>
            <a:ext cx="954132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CYLINDERS 216m2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717655" y="3349502"/>
            <a:ext cx="3710515" cy="3710515"/>
          </a:xfrm>
          <a:prstGeom prst="ellipse">
            <a:avLst/>
          </a:prstGeom>
          <a:noFill/>
          <a:ln w="1651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7655" y="318491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M13 MAR 2027 — WEST (0–210m)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235 ops · 26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Mast-climber 3.0m clearance (§7) | TP-008 relocation: parking shifts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3312960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100sps 2500m2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2130" y="646581"/>
            <a:ext cx="795110" cy="1154262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327m2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31547" y="5257446"/>
            <a:ext cx="2650368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550m2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110" y="5257446"/>
            <a:ext cx="5300737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CRAH+PIPE 1200m2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M13 MAR 2027 — EAST (210–420m)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235 ops · 26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Mast-climber 3.0m clearance (§7) | TP-008 relocation: parking shifts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0737" y="3296503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ENV. 840m2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5257446"/>
            <a:ext cx="2650368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550m2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0294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DIST+BUSWAY 840m2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0958" y="3296503"/>
            <a:ext cx="29154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ELV+BMS 660m2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71400" y="3296503"/>
            <a:ext cx="954132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CYLINDERS 216m2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0368" y="3296503"/>
            <a:ext cx="79511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M14 APR 2027 — WEST (0–210m)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200 ops · 24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TP-008 relocation: parking shifts | Gate: booking system active (200 ops)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2849146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86sps 2150m2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8315" y="646581"/>
            <a:ext cx="795110" cy="1029936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292m2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31547" y="5257446"/>
            <a:ext cx="2650368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550m2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110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COMMISSIONING 840m2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4206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M14 APR 2027 — EAST (210–420m) ★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200 ops · 24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TP-008 relocation: parking shifts | Gate: booking system active (200 ops)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90958" y="3296503"/>
            <a:ext cx="2120294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FINAL ENV. 480m2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5257446"/>
            <a:ext cx="2650368" cy="582982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RESIDUAL 550m2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0810" y="5257446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1179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0368" y="3296503"/>
            <a:ext cx="79511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-9647341" y="4069080"/>
            <a:ext cx="21945051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M15 MAY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150 ops · 20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TP-008 relocation: parking shifts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218655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66sps 1650m2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5723" y="646581"/>
            <a:ext cx="795110" cy="832517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236m2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110" y="5257446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COMMISSIONING 840m2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M15 MAY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150 ops · 20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TP-008 relocation: parking shifts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0810" y="5257446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1179" y="3296503"/>
            <a:ext cx="265036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0368" y="3296503"/>
            <a:ext cx="79511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M16 JUN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80 ops · 16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38sps 950m2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M16 JUN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80 ops · 16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0368" y="3296503"/>
            <a:ext cx="795110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M17 JUL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60 ops · 12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S1+S2+S3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30sps 750m2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110" y="5257446"/>
            <a:ext cx="2120294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FINAL COMM. 480m2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M17 JUL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60 ops · 12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S1+S2+S3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0810" y="5257446"/>
            <a:ext cx="2120294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FINAL COMM. 480m2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1179" y="3296503"/>
            <a:ext cx="1590221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FINAL COMM. 360m2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0368" y="3296503"/>
            <a:ext cx="689095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ROADS+PLANT 1560m2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M18 AUG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40 ops · 10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22sps 550m2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M18 AUG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40 ops · 10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0368" y="3296503"/>
            <a:ext cx="6890958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ROADS+PLANT 1560m2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M19 SEP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25 ops · 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TP-006 (Oct 1) + TP-007 (Oct 7)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16sps 400m2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M19 SEP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25 ops · 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TP-006 (Oct 1) + TP-007 (Oct 7)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0442" y="3296503"/>
            <a:ext cx="5830810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ROADS+PLANT 1320m2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M20 OCT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15 ops · 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TP-005 completes Oct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12sps 300m2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M20 OCT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15 ops · 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TP-005 completes Oct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0515" y="3296503"/>
            <a:ext cx="4770663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SNAGGING 1080m2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M21 NOV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8 ops · 5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TP-008 completes Nov 22 — last trade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10sps 250m2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M21 NOV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8 ops · 5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TP-008 completes Nov 22 — last trade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0589" y="3296503"/>
            <a:ext cx="3710515" cy="63598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TP FINAL SNAG 840m2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M22 DEC 2027 — WEST (0–210m)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5 ops · 4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S4 sectional completion Jan 2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110" y="646581"/>
            <a:ext cx="1325184" cy="2119938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3498DB"/>
                </a:solidFill>
              </a:defRPr>
            </a:pPr>
            <a:r>
              <a:t>PARKING 8sps 200m2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353" y="646581"/>
            <a:ext cx="795110" cy="63598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700" b="1">
                <a:solidFill>
                  <a:srgbClr val="8E44AD"/>
                </a:solidFill>
              </a:defRPr>
            </a:pPr>
            <a:r>
              <a:t>OFFICES+WELFARE 180m2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129491" y="6211418"/>
            <a:ext cx="1166162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295653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95653" y="3455499"/>
            <a:ext cx="272988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09002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392471" y="6211418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074427" y="6211418"/>
            <a:ext cx="318044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7442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74427" y="3349502"/>
            <a:ext cx="3816531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90958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770663" y="2925514"/>
            <a:ext cx="2120295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70663" y="2925514"/>
            <a:ext cx="0" cy="423988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074427" y="3349502"/>
            <a:ext cx="169623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60147" y="3349502"/>
            <a:ext cx="2014280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0147" y="3349502"/>
            <a:ext cx="0" cy="2861916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147" y="6211418"/>
            <a:ext cx="4903182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3329" y="6211418"/>
            <a:ext cx="901125" cy="105997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127434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434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098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8098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M22 DEC 2027 — EAST (210–420m)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2DC"/>
                </a:solidFill>
              </a:defRPr>
            </a:pPr>
            <a:r>
              <a:t>5 ops · 4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321E"/>
                </a:solidFill>
              </a:defRPr>
            </a:pPr>
            <a:r>
              <a:t>S4 sectional completion Jan 2 2028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336437" y="3455499"/>
            <a:ext cx="0" cy="2755919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21031" y="6211418"/>
            <a:ext cx="291540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710515" y="6211418"/>
            <a:ext cx="3710516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-106014" y="6211418"/>
            <a:ext cx="3816529" cy="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37213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7213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7877" y="6080760"/>
            <a:ext cx="530073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7877" y="5943600"/>
            <a:ext cx="530073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5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