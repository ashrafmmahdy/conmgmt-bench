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POLARIS DC-1</a:t>
            </a:r>
          </a:p>
          <a:p>
            <a:pPr>
              <a:defRPr sz="3800" b="1">
                <a:solidFill>
                  <a:srgbClr val="E74C3C"/>
                </a:solidFill>
              </a:defRPr>
            </a:pPr>
            <a:r>
              <a:t>SITE LOGISTICS PLAN</a:t>
            </a:r>
          </a:p>
          <a:p>
            <a:pPr>
              <a:defRPr sz="1800">
                <a:solidFill>
                  <a:srgbClr val="AAB4BE"/>
                </a:solidFill>
              </a:defRPr>
            </a:pPr>
            <a:r>
              <a:t>22 Months · Two Months per Slide · Mar 2026 – Dec 2027</a:t>
            </a:r>
          </a:p>
          <a:p>
            <a:pPr>
              <a:defRPr sz="1000"/>
            </a:pPr>
          </a:p>
          <a:p>
            <a:pPr>
              <a:defRPr sz="1400">
                <a:solidFill>
                  <a:srgbClr val="96A0AA"/>
                </a:solidFill>
              </a:defRPr>
            </a:pPr>
            <a:r>
              <a:t>Nordbuild Oy · PDC-LOG-002 Rev 0 · PDC-LOG-001 §3.1 Compliant</a:t>
            </a:r>
          </a:p>
          <a:p>
            <a:pPr>
              <a:defRPr sz="1200">
                <a:solidFill>
                  <a:srgbClr val="78828C"/>
                </a:solidFill>
              </a:defRPr>
            </a:pPr>
            <a:r>
              <a:t>Pre-Start Meeting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3" name="Picture 2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429000"/>
            <a:ext cx="11277295" cy="1097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18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M1 MAR 2026  —  20 ops · 12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8977" y="274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14sps 350m2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27156" y="274320"/>
            <a:ext cx="380990" cy="329184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180m2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1853" y="1645919"/>
            <a:ext cx="5333866" cy="822959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STOCKPILE 6300m2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977" y="2660904"/>
            <a:ext cx="1015974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924201" y="3154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482987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82987" y="1728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794730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397765" y="3154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619809" y="3154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791055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962300" y="3154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133546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981150" y="3154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981150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81150" y="1673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809904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793930" y="1453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93930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981150" y="1673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15974" y="1673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5974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15974" y="3154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65415" y="3154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006549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06549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2492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2492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78435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8435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4378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4378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" y="3447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M2 APR 2026  —  40 ops · 15 staff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3593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88977" y="3703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22sps 550m2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727156" y="3703320"/>
            <a:ext cx="380990" cy="329184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180m2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41853" y="5074919"/>
            <a:ext cx="5333866" cy="822959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STOCKPILE 6300m2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69968" y="5074919"/>
            <a:ext cx="126996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STEEL PREP 600m2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25879" y="5074919"/>
            <a:ext cx="888977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MECH MOB. 420m2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41853" y="5074919"/>
            <a:ext cx="888977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8977" y="6089904"/>
            <a:ext cx="1015974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3924201" y="6583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482987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82987" y="5157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794730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397765" y="6583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7619809" y="6583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5791055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3962300" y="6583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2133546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981150" y="6583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981150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1150" y="5102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809904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2793930" y="4882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793930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981150" y="5102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015974" y="5102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15974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15974" y="6583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365415" y="6583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2006549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06549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92492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92492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78435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78435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64378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64378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3" name="Picture 2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429000"/>
            <a:ext cx="11277295" cy="1097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18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M3 MAY 2026  —  50 ops · 18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8977" y="274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26sps 650m2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27156" y="274320"/>
            <a:ext cx="380990" cy="329184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180m2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1853" y="1645919"/>
            <a:ext cx="5333866" cy="822959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STOCKPILE 6300m2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9968" y="1645919"/>
            <a:ext cx="126996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STEEL PREP 600m2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5879" y="1645919"/>
            <a:ext cx="888977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MECH MOB. 420m2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1853" y="1645919"/>
            <a:ext cx="888977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977" y="2660904"/>
            <a:ext cx="1015974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924201" y="3154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482987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82987" y="1728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794730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397765" y="3154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619809" y="3154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1055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962300" y="3154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133546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981150" y="3154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981150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81150" y="1673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09904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793930" y="1453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93930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981150" y="1673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015974" y="1673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15974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5974" y="3154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65415" y="3154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006549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6549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2492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2492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78435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78435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4378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4378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" y="3447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M4 JUN 2026  —  65 ops · 20 staff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593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3447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110kV DNO permission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8977" y="3703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32sps 800m2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27156" y="3703320"/>
            <a:ext cx="380990" cy="329184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180m2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41853" y="5074919"/>
            <a:ext cx="5333866" cy="822959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STKPL+PILLING 6300m2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69968" y="5074919"/>
            <a:ext cx="126996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STEEL PREP 600m2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25879" y="5074919"/>
            <a:ext cx="888977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MECH MOB. 420m2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41853" y="5074919"/>
            <a:ext cx="888977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8977" y="6089904"/>
            <a:ext cx="1015974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3924201" y="6583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482987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482987" y="5157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794730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9397765" y="6583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7619809" y="6583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5791055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3962300" y="6583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2133546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981150" y="6583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981150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981150" y="5102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09904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2793930" y="4882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793930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981150" y="5102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1015974" y="5102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15974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15974" y="6583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365415" y="6583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2006549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06549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92492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92492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78435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78435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64378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64378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3" name="Picture 2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429000"/>
            <a:ext cx="11277295" cy="1097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18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M5 JUL 2026  —  85 ops · 22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8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110kV DNO permission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977" y="274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40sps 1000m2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7156" y="274320"/>
            <a:ext cx="380990" cy="36953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202m2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41853" y="1645919"/>
            <a:ext cx="5333866" cy="822959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STKPL+PILLING 6300m2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9968" y="1645919"/>
            <a:ext cx="126996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STEEL PREP 600m2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5879" y="1645919"/>
            <a:ext cx="888977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MECH MOB. 420m2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41853" y="1645919"/>
            <a:ext cx="888977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ELEC MOB. 420m2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977" y="2660904"/>
            <a:ext cx="1015974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924201" y="3154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482987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82987" y="1728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794730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397765" y="3154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619809" y="3154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791055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962300" y="3154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133546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981150" y="3154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981150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81150" y="1673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809904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793930" y="1453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793930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981150" y="1673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015974" y="1673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5974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15974" y="3154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65415" y="3154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006549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06549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2492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2492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78435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78435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4378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4378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" y="3447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M6 AUG 2026  —  100 ops · 24 staff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3593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0" y="3447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110kV DNO permission | Mast-climber 3m strip §7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8977" y="3703320"/>
            <a:ext cx="730231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46sps 1150m2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22404" y="3703320"/>
            <a:ext cx="380990" cy="407365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223m2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41853" y="5074919"/>
            <a:ext cx="5333866" cy="822959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STKPL+PILLING 6300m2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69968" y="5074919"/>
            <a:ext cx="126996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STEEL PREP 600m2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35784" y="5074919"/>
            <a:ext cx="1523961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ENVELOPE 720m2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17892" y="5074919"/>
            <a:ext cx="139696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PIPE STAGING 660m2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14857" y="5074919"/>
            <a:ext cx="1142971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CABLE+SWGR 540m2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8977" y="6089904"/>
            <a:ext cx="1015974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3924201" y="6583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82987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482987" y="5157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94730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9397765" y="6583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7619809" y="6583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791055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3962300" y="6583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133546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981150" y="6583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981150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981150" y="5102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809904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2793930" y="4882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793930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1981150" y="5102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015974" y="5102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15974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15974" y="6583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365415" y="6583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006549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06549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92492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92492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78435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78435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64378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64378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219169" y="5650992"/>
            <a:ext cx="10515337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3" name="Picture 2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429000"/>
            <a:ext cx="11277295" cy="1097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18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M7 SEP 2026  —  130 ops · 26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8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110kV DNO permission | Mast-climber 3m strip §7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977" y="274320"/>
            <a:ext cx="920726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58sps 1450m2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2899" y="274320"/>
            <a:ext cx="380990" cy="464743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254m2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1822" y="1645919"/>
            <a:ext cx="4063898" cy="822959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RESIDUAL 4800m2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3930" y="1645919"/>
            <a:ext cx="1523961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STEEL 720m2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73803" y="1645919"/>
            <a:ext cx="2285942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CLADDING 1080m2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7892" y="1645919"/>
            <a:ext cx="139696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PIPE STAGING 660m2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4857" y="1645919"/>
            <a:ext cx="1142971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CABLE+SWGR 540m2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977" y="2660904"/>
            <a:ext cx="1015974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924201" y="3154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482987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82987" y="1728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94730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397765" y="3154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619809" y="3154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791055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962300" y="3154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133546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981150" y="3154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81150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81150" y="1673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09904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793930" y="1453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93930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981150" y="1673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015974" y="1673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15974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15974" y="3154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65415" y="3154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530511" y="1673352"/>
            <a:ext cx="1777955" cy="1777955"/>
          </a:xfrm>
          <a:prstGeom prst="ellipse">
            <a:avLst/>
          </a:prstGeom>
          <a:noFill/>
          <a:ln w="1143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30511" y="1604772"/>
            <a:ext cx="177795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06549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6549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2492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2492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78435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78435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4378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4378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19169" y="2221992"/>
            <a:ext cx="10515337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" y="3447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M8 OCT 2026  —  155 ops · 28 staff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3593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0" y="3447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110kV DNO permission | Mast-climber 3m strip §7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8977" y="3703320"/>
            <a:ext cx="1079473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68sps 1700m2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71645" y="3703320"/>
            <a:ext cx="380990" cy="51652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282m2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11822" y="5074919"/>
            <a:ext cx="4063898" cy="822959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RESIDUAL 4800m2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93930" y="5074919"/>
            <a:ext cx="1523961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STEEL 720m2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73803" y="5074919"/>
            <a:ext cx="2285942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CLADDING 1080m2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1885" y="6089904"/>
            <a:ext cx="1523961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FLOORS 660m2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063898" y="6089904"/>
            <a:ext cx="2031949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PIPE+CRAH 960m2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5847" y="6089904"/>
            <a:ext cx="177795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XFMR+GEN 840m2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8977" y="6089904"/>
            <a:ext cx="1015974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3924201" y="6583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482987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82987" y="5157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794730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9397765" y="6583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7619809" y="6583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5791055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3962300" y="6583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2133546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1981150" y="6583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981150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981150" y="5102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809904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2793930" y="4882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793930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1981150" y="5102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1015974" y="5102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15974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15974" y="6583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365415" y="6583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3530511" y="5102352"/>
            <a:ext cx="1777955" cy="1777955"/>
          </a:xfrm>
          <a:prstGeom prst="ellipse">
            <a:avLst/>
          </a:prstGeom>
          <a:noFill/>
          <a:ln w="1143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30511" y="5033772"/>
            <a:ext cx="177795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81" name="Oval 80"/>
          <p:cNvSpPr/>
          <p:nvPr/>
        </p:nvSpPr>
        <p:spPr>
          <a:xfrm>
            <a:off x="5816454" y="5102352"/>
            <a:ext cx="1777955" cy="1777955"/>
          </a:xfrm>
          <a:prstGeom prst="ellipse">
            <a:avLst/>
          </a:prstGeom>
          <a:noFill/>
          <a:ln w="1143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16454" y="5033772"/>
            <a:ext cx="177795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06549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06549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92492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92492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78435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78435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64378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64378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219169" y="5650992"/>
            <a:ext cx="10515337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3" name="Picture 2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429000"/>
            <a:ext cx="11277295" cy="1097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18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M9 NOV 2026  —  180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8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110kV DNO permission | Mast-climber 3m strip §7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977" y="274320"/>
            <a:ext cx="1238219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78sps 1950m2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0391" y="274320"/>
            <a:ext cx="380990" cy="547268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299m2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977" y="1645919"/>
            <a:ext cx="2031949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STEEL+PRECAST 960m2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73803" y="1645919"/>
            <a:ext cx="2285942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CLADDING 1080m2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1917" y="2660904"/>
            <a:ext cx="3555911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FLOOR+CONTAIN. 1540m2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3898" y="2660904"/>
            <a:ext cx="2031949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PIPE+CRAH 960m2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7" y="2660904"/>
            <a:ext cx="177795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XFMR+GEN 840m2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977" y="2660904"/>
            <a:ext cx="1015974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FENCING+DUCT 440m2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924201" y="3154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482987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82987" y="1728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94730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397765" y="3154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619809" y="3154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791055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962300" y="3154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133546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981150" y="3154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81150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81150" y="1673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09904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793930" y="1453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93930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981150" y="1673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015974" y="1673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15974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15974" y="3154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65415" y="3154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244568" y="1673352"/>
            <a:ext cx="1777955" cy="1777955"/>
          </a:xfrm>
          <a:prstGeom prst="ellipse">
            <a:avLst/>
          </a:prstGeom>
          <a:noFill/>
          <a:ln w="1143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4568" y="1604772"/>
            <a:ext cx="177795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38" name="Oval 37"/>
          <p:cNvSpPr/>
          <p:nvPr/>
        </p:nvSpPr>
        <p:spPr>
          <a:xfrm>
            <a:off x="8102397" y="1673352"/>
            <a:ext cx="1777955" cy="1777955"/>
          </a:xfrm>
          <a:prstGeom prst="ellipse">
            <a:avLst/>
          </a:prstGeom>
          <a:noFill/>
          <a:ln w="1143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2397" y="1604772"/>
            <a:ext cx="177795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40" name="Oval 39"/>
          <p:cNvSpPr/>
          <p:nvPr/>
        </p:nvSpPr>
        <p:spPr>
          <a:xfrm>
            <a:off x="5537061" y="27432"/>
            <a:ext cx="1117572" cy="1117572"/>
          </a:xfrm>
          <a:prstGeom prst="ellipse">
            <a:avLst/>
          </a:prstGeom>
          <a:noFill/>
          <a:ln w="11430">
            <a:solidFill>
              <a:srgbClr val="F39C1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7061" y="-41148"/>
            <a:ext cx="111757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F39C12"/>
                </a:solidFill>
              </a:defRPr>
            </a:pPr>
            <a:r>
              <a:t>GEN CRANE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06549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06549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2492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2492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78435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78435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4378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4378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9169" y="2221992"/>
            <a:ext cx="10515337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28" y="3447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M10 DEC 2026 ★ PEAK  —  210 ops · 28 staff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3593592"/>
            <a:ext cx="12191695" cy="91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0" y="3447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110kV DNO permission | Mast-climber 3m strip §7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8977" y="3703320"/>
            <a:ext cx="142871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90sps 2250m2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520886" y="3703320"/>
            <a:ext cx="380990" cy="584987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320m2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8977" y="5074919"/>
            <a:ext cx="2031949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STEEL+PRECAST 960m2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65815" y="5074919"/>
            <a:ext cx="2793930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CLADDING+ROOF 1320m2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01917" y="6089904"/>
            <a:ext cx="3555911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FLOOR+CONTAIN. 1540m2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63898" y="6089904"/>
            <a:ext cx="2031949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PIPE+CRAH 960m2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95847" y="6089904"/>
            <a:ext cx="177795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XFMR+GEN 840m2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05752" y="5074919"/>
            <a:ext cx="126996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ELV+BMS 600m2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8977" y="6089904"/>
            <a:ext cx="761980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EXT.MATS 330m2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3924201" y="6583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482987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482987" y="5157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794730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9397765" y="6583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7619809" y="6583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5791055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3962300" y="6583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2133546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981150" y="6583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981150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981150" y="5102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809904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2793930" y="4882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793930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1981150" y="5102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015974" y="5102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15974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15974" y="6583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365415" y="6583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3530511" y="5102352"/>
            <a:ext cx="1777955" cy="1777955"/>
          </a:xfrm>
          <a:prstGeom prst="ellipse">
            <a:avLst/>
          </a:prstGeom>
          <a:noFill/>
          <a:ln w="1143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530511" y="5033772"/>
            <a:ext cx="177795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85" name="Oval 84"/>
          <p:cNvSpPr/>
          <p:nvPr/>
        </p:nvSpPr>
        <p:spPr>
          <a:xfrm>
            <a:off x="5816454" y="5102352"/>
            <a:ext cx="1777955" cy="1777955"/>
          </a:xfrm>
          <a:prstGeom prst="ellipse">
            <a:avLst/>
          </a:prstGeom>
          <a:noFill/>
          <a:ln w="1143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16454" y="5033772"/>
            <a:ext cx="177795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87" name="Oval 86"/>
          <p:cNvSpPr/>
          <p:nvPr/>
        </p:nvSpPr>
        <p:spPr>
          <a:xfrm>
            <a:off x="5537061" y="3456432"/>
            <a:ext cx="1117572" cy="1117572"/>
          </a:xfrm>
          <a:prstGeom prst="ellipse">
            <a:avLst/>
          </a:prstGeom>
          <a:noFill/>
          <a:ln w="11430">
            <a:solidFill>
              <a:srgbClr val="F39C1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37061" y="3387852"/>
            <a:ext cx="111757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F39C12"/>
                </a:solidFill>
              </a:defRPr>
            </a:pPr>
            <a:r>
              <a:t>GEN CRANE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06549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06549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92492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92492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78435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78435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864378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864378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19169" y="5650992"/>
            <a:ext cx="10515337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3" name="Picture 2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429000"/>
            <a:ext cx="11277295" cy="1097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18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M11 JAN 2027 ★ PEAK  —  230 ops · 28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"/>
            <a:ext cx="12191695" cy="91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8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110kV DNO permission | Mast-climber 3m strip §7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977" y="274320"/>
            <a:ext cx="1555711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98sps 2450m2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7883" y="274320"/>
            <a:ext cx="380990" cy="610133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334m2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977" y="1645919"/>
            <a:ext cx="2031949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STEEL+PRECAST 960m2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5815" y="1645919"/>
            <a:ext cx="2793930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CLADDING+ROOF 1320m2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1917" y="2660904"/>
            <a:ext cx="3555911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FLOOR+CONTAIN. 1540m2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977" y="2660904"/>
            <a:ext cx="2539936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CRAH+PIPE 1200m2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7828" y="2660904"/>
            <a:ext cx="177795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DIST+BUSWAY 840m2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3771" y="1645919"/>
            <a:ext cx="139696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ELV+BMS 660m2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7733" y="1645919"/>
            <a:ext cx="45718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CYLINDERS 216m2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977" y="2660904"/>
            <a:ext cx="761980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EXT.MATS 330m2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924201" y="3154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482987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2987" y="1728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94730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397765" y="3154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619809" y="3154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791055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962300" y="3154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133546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981150" y="3154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981150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81150" y="1673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809904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793930" y="1453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93930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981150" y="1673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015974" y="1673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15974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15974" y="3154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365415" y="3154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244568" y="1673352"/>
            <a:ext cx="1777955" cy="1777955"/>
          </a:xfrm>
          <a:prstGeom prst="ellipse">
            <a:avLst/>
          </a:prstGeom>
          <a:noFill/>
          <a:ln w="1143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4568" y="1604772"/>
            <a:ext cx="177795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40" name="Oval 39"/>
          <p:cNvSpPr/>
          <p:nvPr/>
        </p:nvSpPr>
        <p:spPr>
          <a:xfrm>
            <a:off x="8102397" y="1673352"/>
            <a:ext cx="1777955" cy="1777955"/>
          </a:xfrm>
          <a:prstGeom prst="ellipse">
            <a:avLst/>
          </a:prstGeom>
          <a:noFill/>
          <a:ln w="1143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2397" y="1604772"/>
            <a:ext cx="177795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06549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06549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2492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2492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78435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78435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4378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4378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9169" y="2221992"/>
            <a:ext cx="10515337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28" y="3447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M12 FEB 2027 ★ PEAK  —  250 ops · 28 staff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3593592"/>
            <a:ext cx="12191695" cy="91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0" y="3447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110kV DNO permission | Mast-climber 3m strip §7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8977" y="3703320"/>
            <a:ext cx="1682707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106sps 2650m2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74880" y="3703320"/>
            <a:ext cx="380990" cy="635279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347m2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69968" y="5074919"/>
            <a:ext cx="1015974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STEEL RESID. 480m2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65815" y="5074919"/>
            <a:ext cx="2793930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CLADDING+ROOF 1320m2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1885" y="6089904"/>
            <a:ext cx="2031949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MOVING INDOORS 880m2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8977" y="6089904"/>
            <a:ext cx="2539936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CRAH+PIPE 1200m2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7828" y="6089904"/>
            <a:ext cx="177795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DIST+BUSWAY 840m2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3771" y="5074919"/>
            <a:ext cx="139696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ELV+BMS 660m2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67733" y="5074919"/>
            <a:ext cx="45718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CYLINDERS 216m2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88977" y="6089904"/>
            <a:ext cx="761980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EXT.MATS 330m2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3924201" y="6583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482987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482987" y="5157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794730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9397765" y="6583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7619809" y="6583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5791055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3962300" y="6583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2133546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981150" y="6583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981150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981150" y="5102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809904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2793930" y="4882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793930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981150" y="5102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1015974" y="5102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15974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15974" y="6583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365415" y="6583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8102397" y="5102352"/>
            <a:ext cx="1777955" cy="1777955"/>
          </a:xfrm>
          <a:prstGeom prst="ellipse">
            <a:avLst/>
          </a:prstGeom>
          <a:noFill/>
          <a:ln w="1143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102397" y="5033772"/>
            <a:ext cx="1777955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" b="1">
                <a:solidFill>
                  <a:srgbClr val="E74C3C"/>
                </a:solidFill>
              </a:defRPr>
            </a:pPr>
            <a:r>
              <a:t>250t CRANE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06549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06549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92492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2492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78435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78435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64378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864378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19169" y="5650992"/>
            <a:ext cx="10515337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3" name="Picture 2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429000"/>
            <a:ext cx="11277295" cy="1097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18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M13 MAR 2027 ★ PEAK  —  235 ops · 26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"/>
            <a:ext cx="12191695" cy="91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8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Mast-climber 3m strip §7 | TP-008 relocation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977" y="274320"/>
            <a:ext cx="1587460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100sps 2500m2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633" y="274320"/>
            <a:ext cx="380990" cy="597446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327m2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1790" y="1645919"/>
            <a:ext cx="177795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RESIDUAL ENV. 840m2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41853" y="2660904"/>
            <a:ext cx="1269968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RESIDUAL 550m2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977" y="2660904"/>
            <a:ext cx="2539936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CRAH+PIPE 1200m2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7828" y="2660904"/>
            <a:ext cx="177795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DIST+BUSWAY 840m2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645919"/>
            <a:ext cx="139696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ELV+BMS 660m2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7733" y="1645919"/>
            <a:ext cx="45718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CYLINDERS 216m2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1822" y="1645919"/>
            <a:ext cx="3809904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PAVING+PLANT 1800m2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924201" y="3154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482987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82987" y="1728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94730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397765" y="3154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619809" y="3154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791055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962300" y="3154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133546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981150" y="3154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981150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81150" y="1673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09904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793930" y="1453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93930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981150" y="1673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015974" y="1673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15974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15974" y="3154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365415" y="3154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006549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06549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2492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2492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78435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8435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4378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4378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19169" y="2221992"/>
            <a:ext cx="10515337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" y="3447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M14 APR 2027 ★ PEAK  —  200 ops · 24 staff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593592"/>
            <a:ext cx="12191695" cy="91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0" y="3447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TP-008 relocation | Gate booking system active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8977" y="3703320"/>
            <a:ext cx="1365215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86sps 2150m2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57388" y="3703320"/>
            <a:ext cx="380990" cy="533095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292m2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3771" y="5074919"/>
            <a:ext cx="1015974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FINAL ENV. 480m2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1853" y="6089904"/>
            <a:ext cx="1269968" cy="301751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RESIDUAL 550m2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8977" y="6089904"/>
            <a:ext cx="177795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COMMISSIONING 840m2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35784" y="6089904"/>
            <a:ext cx="126996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COMMISSIONING 600m2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05752" y="5074919"/>
            <a:ext cx="126996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COMMISSIONING 600m2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11822" y="5074919"/>
            <a:ext cx="3809904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PAVING+PLANT 1800m2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3924201" y="6583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482987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82987" y="5157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794730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9397765" y="6583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619809" y="6583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5791055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3962300" y="6583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2133546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981150" y="6583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981150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981150" y="5102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809904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793930" y="4882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793930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981150" y="5102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015974" y="5102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15974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15974" y="6583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365415" y="6583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2006549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06549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92492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92492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78435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78435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64378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64378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19169" y="5650992"/>
            <a:ext cx="10515337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3" name="Picture 2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429000"/>
            <a:ext cx="11277295" cy="1097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18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M15 MAY 2027  —  150 ops · 20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8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TP-008 relocation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977" y="274320"/>
            <a:ext cx="1047723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66sps 1650m2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9896" y="274320"/>
            <a:ext cx="380990" cy="430911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236m2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977" y="2660904"/>
            <a:ext cx="177795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COMMISSIONING 840m2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35784" y="2660904"/>
            <a:ext cx="126996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COMMISSIONING 600m2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5752" y="1645919"/>
            <a:ext cx="1269968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COMMISSIONING 600m2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1822" y="1645919"/>
            <a:ext cx="3809904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PAVING+PLANT 1800m2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924201" y="3154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482987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82987" y="1728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794730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397765" y="3154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619809" y="3154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1055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962300" y="3154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133546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981150" y="3154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981150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81150" y="1673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09904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793930" y="1453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93930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981150" y="1673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015974" y="1673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15974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5974" y="3154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65415" y="3154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006549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6549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2492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2492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78435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78435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4378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4378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" y="3447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M16 JUN 2027  —  80 ops · 16 staff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593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88977" y="3703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38sps 950m2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27156" y="3703320"/>
            <a:ext cx="380990" cy="329184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180m2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11822" y="5074919"/>
            <a:ext cx="3809904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PAVING+PLANT 1800m2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3924201" y="6583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482987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482987" y="5157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794730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397765" y="6583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619809" y="6583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791055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3962300" y="6583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133546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981150" y="6583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981150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1150" y="5102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809904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2793930" y="4882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793930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981150" y="5102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015974" y="5102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15974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15974" y="6583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365415" y="6583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2006549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06549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2492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2492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78435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78435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64378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64378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3" name="Picture 2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429000"/>
            <a:ext cx="11277295" cy="1097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18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M17 JUL 2027  —  60 ops · 12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8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S1+S2+S3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977" y="274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30sps 750m2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7156" y="274320"/>
            <a:ext cx="380990" cy="329184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180m2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977" y="2660904"/>
            <a:ext cx="1015974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FINAL COMM. 480m2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35784" y="2660904"/>
            <a:ext cx="1015974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FINAL COMM. 480m2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5752" y="1645919"/>
            <a:ext cx="761980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FINAL COMM. 360m2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1822" y="1645919"/>
            <a:ext cx="3301917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ROADS+PLANT 1560m2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924201" y="3154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482987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82987" y="1728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794730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397765" y="3154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619809" y="3154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91055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962300" y="3154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133546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981150" y="3154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981150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81150" y="1673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09904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793930" y="1453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93930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981150" y="1673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015974" y="1673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15974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5974" y="3154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65415" y="3154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006549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6549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2492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2492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78435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78435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4378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4378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" y="3447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M18 AUG 2027  —  40 ops · 10 staff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593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88977" y="3703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22sps 550m2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27156" y="3703320"/>
            <a:ext cx="380990" cy="329184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180m2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11822" y="5074919"/>
            <a:ext cx="3301917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ROADS+PLANT 1560m2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3924201" y="6583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482987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482987" y="5157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794730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397765" y="6583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619809" y="6583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791055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3962300" y="6583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133546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981150" y="6583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981150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1150" y="5102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809904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2793930" y="4882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793930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981150" y="5102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015974" y="5102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15974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15974" y="6583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365415" y="6583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2006549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06549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2492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2492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78435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78435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64378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64378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3" name="Picture 2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429000"/>
            <a:ext cx="11277295" cy="1097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18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M19 SEP 2027  —  25 ops · 8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8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TP-006 Oct 1 + TP-007 Oct 7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977" y="274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16sps 400m2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7156" y="274320"/>
            <a:ext cx="380990" cy="329184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180m2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5815" y="1645919"/>
            <a:ext cx="2793930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ROADS+PLANT 1320m2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924201" y="3154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482987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82987" y="1728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794730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397765" y="3154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619809" y="3154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791055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962300" y="3154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133546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981150" y="3154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981150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81150" y="1673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809904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793930" y="1453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93930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981150" y="1673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15974" y="1673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5974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15974" y="3154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65415" y="3154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006549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06549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2492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2492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78435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8435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4378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4378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" y="3447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M20 OCT 2027  —  15 ops · 6 staff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3593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3447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TP-005 completes Oct 27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8977" y="3703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12sps 300m2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27156" y="3703320"/>
            <a:ext cx="380990" cy="329184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180m2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19809" y="5074919"/>
            <a:ext cx="2285942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SNAGGING 1080m2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3924201" y="6583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82987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82987" y="5157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794730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397765" y="6583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7619809" y="6583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5791055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3962300" y="6583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2133546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981150" y="6583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981150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81150" y="5102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809904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2793930" y="4882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793930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981150" y="5102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015974" y="5102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5974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5974" y="6583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365415" y="6583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2006549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06549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2492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92492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78435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78435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64378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64378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3" name="Picture 2" descr="bas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3429000"/>
            <a:ext cx="11277295" cy="1097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" y="18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M21 NOV 2027  —  8 ops · 5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8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TP-008 completes Nov 22 — last trade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977" y="274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10sps 250m2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7156" y="274320"/>
            <a:ext cx="380990" cy="329184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180m2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73803" y="1645919"/>
            <a:ext cx="1777955" cy="329184"/>
          </a:xfrm>
          <a:prstGeom prst="roundRect">
            <a:avLst/>
          </a:prstGeom>
          <a:solidFill>
            <a:srgbClr val="E74C3C">
              <a:lumMod val="15000"/>
              <a:lumOff val="85000"/>
            </a:srgbClr>
          </a:solidFill>
          <a:ln w="889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E74C3C"/>
                </a:solidFill>
              </a:defRPr>
            </a:pPr>
            <a:r>
              <a:t>TP FINAL SNAG 840m2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924201" y="3154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482987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82987" y="1728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794730" y="1728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397765" y="3154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619809" y="3154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791055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962300" y="3154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133546" y="3154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981150" y="3154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981150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81150" y="1673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809904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793930" y="1453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93930" y="1453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981150" y="1673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15974" y="1673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5974" y="1673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15974" y="3154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65415" y="3154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006549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06549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2492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2492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78435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8435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4378" y="2990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4378" y="2948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" y="3447288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41E28"/>
                </a:solidFill>
              </a:defRPr>
            </a:pPr>
            <a:r>
              <a:t>M22 DEC 2027  —  5 ops · 4 staff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3593592"/>
            <a:ext cx="12191695" cy="9144"/>
          </a:xfrm>
          <a:prstGeom prst="rect">
            <a:avLst/>
          </a:prstGeom>
          <a:solidFill>
            <a:srgbClr val="64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3447288"/>
            <a:ext cx="6492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>
                <a:solidFill>
                  <a:srgbClr val="962D1E"/>
                </a:solidFill>
              </a:defRPr>
            </a:pPr>
            <a:r>
              <a:t>S4 sectional completion Jan 2 2028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8977" y="3703320"/>
            <a:ext cx="634984" cy="1097280"/>
          </a:xfrm>
          <a:prstGeom prst="roundRect">
            <a:avLst/>
          </a:prstGeom>
          <a:solidFill>
            <a:srgbClr val="3498DB">
              <a:lumMod val="15000"/>
              <a:lumOff val="85000"/>
            </a:srgbClr>
          </a:solidFill>
          <a:ln w="889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3498DB"/>
                </a:solidFill>
              </a:defRPr>
            </a:pPr>
            <a:r>
              <a:t>PARKING 8sps 200m2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27156" y="3703320"/>
            <a:ext cx="380990" cy="329184"/>
          </a:xfrm>
          <a:prstGeom prst="roundRect">
            <a:avLst/>
          </a:prstGeom>
          <a:solidFill>
            <a:srgbClr val="8E44AD">
              <a:lumMod val="15000"/>
              <a:lumOff val="85000"/>
            </a:srgbClr>
          </a:solidFill>
          <a:ln w="889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550" b="1">
                <a:solidFill>
                  <a:srgbClr val="8E44AD"/>
                </a:solidFill>
              </a:defRPr>
            </a:pPr>
            <a:r>
              <a:t>WELFARE 180m2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3924201" y="6583680"/>
            <a:ext cx="558786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482987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2987" y="5157216"/>
            <a:ext cx="6311743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794730" y="5157216"/>
            <a:ext cx="0" cy="14264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9397765" y="6583680"/>
            <a:ext cx="139696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619809" y="6583680"/>
            <a:ext cx="177795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5791055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3962300" y="6583680"/>
            <a:ext cx="1828755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2133546" y="6583680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981150" y="6583680"/>
            <a:ext cx="15239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981150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81150" y="5102352"/>
            <a:ext cx="182875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809904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2793930" y="4882895"/>
            <a:ext cx="1015974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93930" y="4882895"/>
            <a:ext cx="0" cy="219457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1981150" y="5102352"/>
            <a:ext cx="812780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015974" y="5102352"/>
            <a:ext cx="965176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5974" y="5102352"/>
            <a:ext cx="0" cy="1481328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5974" y="6583680"/>
            <a:ext cx="2349441" cy="0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365415" y="6583680"/>
            <a:ext cx="431790" cy="54864"/>
          </a:xfrm>
          <a:prstGeom prst="line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006549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06549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92492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2492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78435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78435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64378" y="6419088"/>
            <a:ext cx="253993" cy="822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64378" y="6377940"/>
            <a:ext cx="253993" cy="68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" b="1">
                <a:solidFill>
                  <a:srgbClr val="2C3E50"/>
                </a:solidFill>
              </a:defRPr>
            </a:pPr>
            <a:r>
              <a:t>LP-4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